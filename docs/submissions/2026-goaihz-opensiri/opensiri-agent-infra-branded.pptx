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740d6a20d34513" /><Relationship Type="http://schemas.openxmlformats.org/officeDocument/2006/relationships/extended-properties" Target="/docProps/app.xml" Id="Rfb6a6cb1cdb246cb" /><Relationship Type="http://schemas.openxmlformats.org/officeDocument/2006/relationships/officeDocument" Target="/ppt/presentation.xml" Id="R6a14cae6d5b743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ff13d6b139404b"/>
  </p:sldMasterIdLst>
  <p:notesMasterIdLst>
    <p:notesMasterId xmlns:r="http://schemas.openxmlformats.org/officeDocument/2006/relationships" r:id="R396c6e2df9ed4dfa"/>
  </p:notesMasterIdLst>
  <p:sldIdLst>
    <p:sldId xmlns:r="http://schemas.openxmlformats.org/officeDocument/2006/relationships" id="256" r:id="Raba97aadebc64c48"/>
    <p:sldId xmlns:r="http://schemas.openxmlformats.org/officeDocument/2006/relationships" id="257" r:id="Rf1b9694443fe4ed0"/>
    <p:sldId xmlns:r="http://schemas.openxmlformats.org/officeDocument/2006/relationships" id="258" r:id="R1d37056c61af4f25"/>
    <p:sldId xmlns:r="http://schemas.openxmlformats.org/officeDocument/2006/relationships" id="259" r:id="R774aa9606ae8456c"/>
    <p:sldId xmlns:r="http://schemas.openxmlformats.org/officeDocument/2006/relationships" id="260" r:id="R1acedcac96f4439a"/>
    <p:sldId xmlns:r="http://schemas.openxmlformats.org/officeDocument/2006/relationships" id="261" r:id="Rdd7ca7260ed145ac"/>
    <p:sldId xmlns:r="http://schemas.openxmlformats.org/officeDocument/2006/relationships" id="262" r:id="Rc2a723f1149d4a32"/>
    <p:sldId xmlns:r="http://schemas.openxmlformats.org/officeDocument/2006/relationships" id="263" r:id="R5759d42442064b2d"/>
    <p:sldId xmlns:r="http://schemas.openxmlformats.org/officeDocument/2006/relationships" id="264" r:id="Ra6f0adc1a69a4d22"/>
    <p:sldId xmlns:r="http://schemas.openxmlformats.org/officeDocument/2006/relationships" id="265" r:id="R0aff1ac0f2a045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e4a29b2e3a4ebd" /><Relationship Type="http://schemas.openxmlformats.org/officeDocument/2006/relationships/slideMaster" Target="/ppt/slideMasters/slideMaster1.xml" Id="R65ff13d6b139404b" /><Relationship Type="http://schemas.openxmlformats.org/officeDocument/2006/relationships/notesMaster" Target="/ppt/notesMasters/notesMaster1.xml" Id="R396c6e2df9ed4dfa" /><Relationship Type="http://schemas.openxmlformats.org/officeDocument/2006/relationships/presProps" Target="/ppt/presProps.xml" Id="R7c279d9154d74fc6" /><Relationship Type="http://schemas.openxmlformats.org/officeDocument/2006/relationships/tableStyles" Target="/ppt/tableStyles.xml" Id="R1385bb22113a483f" /><Relationship Type="http://schemas.openxmlformats.org/officeDocument/2006/relationships/slide" Target="/ppt/slides/slide1.xml" Id="Raba97aadebc64c48" /><Relationship Type="http://schemas.openxmlformats.org/officeDocument/2006/relationships/slide" Target="/ppt/slides/slide2.xml" Id="Rf1b9694443fe4ed0" /><Relationship Type="http://schemas.openxmlformats.org/officeDocument/2006/relationships/slide" Target="/ppt/slides/slide3.xml" Id="R1d37056c61af4f25" /><Relationship Type="http://schemas.openxmlformats.org/officeDocument/2006/relationships/slide" Target="/ppt/slides/slide4.xml" Id="R774aa9606ae8456c" /><Relationship Type="http://schemas.openxmlformats.org/officeDocument/2006/relationships/slide" Target="/ppt/slides/slide5.xml" Id="R1acedcac96f4439a" /><Relationship Type="http://schemas.openxmlformats.org/officeDocument/2006/relationships/slide" Target="/ppt/slides/slide6.xml" Id="Rdd7ca7260ed145ac" /><Relationship Type="http://schemas.openxmlformats.org/officeDocument/2006/relationships/slide" Target="/ppt/slides/slide7.xml" Id="Rc2a723f1149d4a32" /><Relationship Type="http://schemas.openxmlformats.org/officeDocument/2006/relationships/slide" Target="/ppt/slides/slide8.xml" Id="R5759d42442064b2d" /><Relationship Type="http://schemas.openxmlformats.org/officeDocument/2006/relationships/slide" Target="/ppt/slides/slide9.xml" Id="Ra6f0adc1a69a4d22" /><Relationship Type="http://schemas.openxmlformats.org/officeDocument/2006/relationships/slide" Target="/ppt/slides/slide10.xml" Id="R0aff1ac0f2a045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47800a00254e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c2dafd723f4703" /><Relationship Type="http://schemas.openxmlformats.org/officeDocument/2006/relationships/notesMaster" Target="/ppt/notesMasters/notesMaster1.xml" Id="R709aa422974a45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3169f7c33441f5" /><Relationship Type="http://schemas.openxmlformats.org/officeDocument/2006/relationships/notesMaster" Target="/ppt/notesMasters/notesMaster1.xml" Id="R474dc0e4ad004f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f2ef62303d4802" /><Relationship Type="http://schemas.openxmlformats.org/officeDocument/2006/relationships/notesMaster" Target="/ppt/notesMasters/notesMaster1.xml" Id="R9de05b216c0947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c2a60387c1404c" /><Relationship Type="http://schemas.openxmlformats.org/officeDocument/2006/relationships/notesMaster" Target="/ppt/notesMasters/notesMaster1.xml" Id="R901b1f09c7af4c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de999aace048bc" /><Relationship Type="http://schemas.openxmlformats.org/officeDocument/2006/relationships/notesMaster" Target="/ppt/notesMasters/notesMaster1.xml" Id="R82877e8b2d2a4b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f892951b934052" /><Relationship Type="http://schemas.openxmlformats.org/officeDocument/2006/relationships/notesMaster" Target="/ppt/notesMasters/notesMaster1.xml" Id="Rcb0598d316194b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f919b182434610" /><Relationship Type="http://schemas.openxmlformats.org/officeDocument/2006/relationships/notesMaster" Target="/ppt/notesMasters/notesMaster1.xml" Id="Rd8422dabb3d441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ef184b6ded4453" /><Relationship Type="http://schemas.openxmlformats.org/officeDocument/2006/relationships/notesMaster" Target="/ppt/notesMasters/notesMaster1.xml" Id="R84e5f66f02f84c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f9509da0a6455c" /><Relationship Type="http://schemas.openxmlformats.org/officeDocument/2006/relationships/notesMaster" Target="/ppt/notesMasters/notesMaster1.xml" Id="Ra2592c3f6b0d41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1f948ee1b6544c4" /><Relationship Type="http://schemas.openxmlformats.org/officeDocument/2006/relationships/notesMaster" Target="/ppt/notesMasters/notesMaster1.xml" Id="Raaa1636a332144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用一句话建立产品记忆：截一张图，不是调用一个聊天机器人，而是调度一支 Agent 团队。标题视觉为本项目原创生成。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direction requested by user; reference: https://openmind.com/</a:t>
            </a:r>
          </a:p>
          <a:p xmlns:a="http://schemas.openxmlformats.org/drawingml/2006/main">
            <a:r>
              <a:t>- Logo asset supplied by the project owner (transparent color-line PNG).</a:t>
            </a:r>
          </a:p>
          <a:p xmlns:a="http://schemas.openxmlformats.org/drawingml/2006/main">
            <a:r>
              <a:t>
Cover revision: the project-owner supplied OpenSiri logo is a separate image; OpenSiri and the three Chinese headline lines are native editable PowerPoint 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先讲清楚：产品价值不是更花哨的文案，而是把截图、用户上下文、策略与验证组织成一个过程。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project design and generated visual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按演示顺序讲完整闭环。重点是每个阶段都可观察、可纠正，不把错误藏在一个 loading 状态里。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design: docs/superpowers/specs/2026-08-16-opensiri-agentteams-design.md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强调职能差异与制衡：Manager 和 Team Leader 不计作凑数的功能 Agent，四个 Worker 本身已超过赛道下限。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AgentTeams repository: https://github.com/agentscope-ai/AgentTeams/</a:t>
            </a:r>
          </a:p>
          <a:p xmlns:a="http://schemas.openxmlformats.org/drawingml/2006/main">
            <a:r>
              <a:t>- GOAI Agent Infra track: https://goaihz.com/tracks?track=infra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评审要求内置三个 Skill。范围控制方式是主 Skill 完整闭环，其余两个共享客户端—AgentTeams 契约和验证机制，避免三条半成品。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GOAI Agent Infra track: https://goaihz.com/tracks?track=infra</a:t>
            </a:r>
          </a:p>
          <a:p xmlns:a="http://schemas.openxmlformats.org/drawingml/2006/main">
            <a:r>
              <a:t>- Internal OpenSiri design specification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可行性来自清晰边界：客户端轻、协作后端独立。两侧只通过版本化 Matrix 事件耦合。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Easydict repository: https://github.com/tisfeng/Easydict</a:t>
            </a:r>
          </a:p>
          <a:p xmlns:a="http://schemas.openxmlformats.org/drawingml/2006/main">
            <a:r>
              <a:t>- AgentTeams repository: https://github.com/agentscope-ai/AgentTeams/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这页对应赛道看重的完整闭环：上下文传递、工具调用、验证证据、人工审批、失败处理与回滚。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GOAI Agent Infra track: https://goaihz.com/tracks?track=infra</a:t>
            </a:r>
          </a:p>
          <a:p xmlns:a="http://schemas.openxmlformats.org/drawingml/2006/main">
            <a:r>
              <a:t>- Internal implementation plan: docs/exec-plans/active/2026-08-16-opensiri-agentteams.md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隐私边界是产品机制，不是免责声明：本地 OCR、按任务最小化上下文、Keychain 凭证、人工最终批准。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OpenSiri design specification</a:t>
            </a:r>
          </a:p>
          <a:p xmlns:a="http://schemas.openxmlformats.org/drawingml/2006/main">
            <a:r>
              <a:t>- Apple platform security primitives are used through existing macOS APIs.</a:t>
            </a:r>
          </a:p>
          <a:p xmlns:a="http://schemas.openxmlformats.org/drawingml/2006/main">
            <a:r>
              <a:t>- Logo asset supplied by the project owner (transparent color-line PNG).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把实现顺序和砍范围原则讲清楚，证明复赛范围可控。完整计划已拆成 15 个可验证 Task。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implementation plan: docs/exec-plans/active/2026-08-16-opensiri-agentteams.md</a:t>
            </a:r>
          </a:p>
          <a:p xmlns:a="http://schemas.openxmlformats.org/drawingml/2006/main">
            <a:r>
              <a:t>- GOAI Agent Infra schedule: https://goaihz.com/tracks?track=infra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回到开场：OpenSiri 的差异不是‘更会写’，而是把上下文理解、策略生成、独立验证和人工决定做成一条可信基础设施。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design and implementation plan; no external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24fc829b754a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90c3945a834c2c" /><Relationship Type="http://schemas.openxmlformats.org/officeDocument/2006/relationships/slideLayout" Target="/ppt/slideLayouts/slideLayout1.xml" Id="Rb974a146aac141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74a146aac141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9f15a948f6429b" /><Relationship Type="http://schemas.openxmlformats.org/officeDocument/2006/relationships/image" Target="/ppt/media/image.png" Id="R8de594ff16304f22" /><Relationship Type="http://schemas.openxmlformats.org/officeDocument/2006/relationships/image" Target="/ppt/media/image2.png" Id="Rd34757fa4be14621" /><Relationship Type="http://schemas.openxmlformats.org/officeDocument/2006/relationships/notesSlide" Target="/ppt/notesSlides/notesSlide1.xml" Id="Ra2d800aa1ff742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edebdc26ea4cb2" /><Relationship Type="http://schemas.openxmlformats.org/officeDocument/2006/relationships/notesSlide" Target="/ppt/notesSlides/notesSlide2.xml" Id="Raa6b0a5db7ea4d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db095942749d1" /><Relationship Type="http://schemas.openxmlformats.org/officeDocument/2006/relationships/notesSlide" Target="/ppt/notesSlides/notesSlide3.xml" Id="Rb7f2663d0c274f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610fd38c94593" /><Relationship Type="http://schemas.openxmlformats.org/officeDocument/2006/relationships/notesSlide" Target="/ppt/notesSlides/notesSlide4.xml" Id="R1d5185a6e6ca42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23995b2ba4ac6" /><Relationship Type="http://schemas.openxmlformats.org/officeDocument/2006/relationships/notesSlide" Target="/ppt/notesSlides/notesSlide5.xml" Id="Rea5b8f9ae68f49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4f4142bfc64f8f" /><Relationship Type="http://schemas.openxmlformats.org/officeDocument/2006/relationships/notesSlide" Target="/ppt/notesSlides/notesSlide6.xml" Id="R3aead5cc07af46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789b31fb17452e" /><Relationship Type="http://schemas.openxmlformats.org/officeDocument/2006/relationships/notesSlide" Target="/ppt/notesSlides/notesSlide7.xml" Id="R2c22ffb9453345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937965b4e4cea" /><Relationship Type="http://schemas.openxmlformats.org/officeDocument/2006/relationships/image" Target="/ppt/media/image3.png" Id="R3bf7eb47f3454bfb" /><Relationship Type="http://schemas.openxmlformats.org/officeDocument/2006/relationships/notesSlide" Target="/ppt/notesSlides/notesSlide8.xml" Id="R2a880672c3514d7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6707efb3b434d" /><Relationship Type="http://schemas.openxmlformats.org/officeDocument/2006/relationships/notesSlide" Target="/ppt/notesSlides/notesSlide9.xml" Id="R1d14450ab54d4e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8cd8a627f4a48" /><Relationship Type="http://schemas.openxmlformats.org/officeDocument/2006/relationships/notesSlide" Target="/ppt/notesSlides/notesSlide10.xml" Id="R492d7b0f00354f5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e594ff16304f22"/>
          <a:stretch xmlns:a="http://schemas.openxmlformats.org/drawingml/2006/main"/>
        </p:blipFill>
        <p:spPr>
          <a:xfrm xmlns:a="http://schemas.openxmlformats.org/drawingml/2006/main" flipH="0" flipV="0">
            <a:off x="1509" y="228600"/>
            <a:ext cx="12188982" cy="64008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647F1-2FF3-4E06-97E6-11EA2A92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3249D8-A4C6-4639-AD19-8B35BD82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2656A"/>
                </a:solidFill>
              </a:defRPr>
            </a:pPr>
            <a:r>
              <a:rPr sz="825" b="0">
                <a:solidFill>
                  <a:srgbClr val="62656A"/>
                </a:solidFill>
              </a:rPr>
              <a:t>GOAI WORLD AI OPEN-SOURCE COMPETITION · AGENT INFRA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545BA-8644-4E18-A5DC-790DC3E0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47700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2656A"/>
                </a:solidFill>
              </a:defRPr>
            </a:pPr>
            <a:r>
              <a:rPr sz="825" b="0">
                <a:solidFill>
                  <a:srgbClr val="62656A"/>
                </a:solidFill>
              </a:rPr>
              <a:t>2026.08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4757fa4be14621"/>
          <a:stretch xmlns:a="http://schemas.openxmlformats.org/drawingml/2006/main"/>
        </p:blipFill>
        <p:spPr>
          <a:xfrm xmlns:a="http://schemas.openxmlformats.org/drawingml/2006/main">
            <a:off x="981075" y="1685925"/>
            <a:ext cx="962025" cy="962025"/>
          </a:xfrm>
          <a:prstGeom xmlns:a="http://schemas.openxmlformats.org/drawingml/2006/main" prst="rect">
            <a:avLst/>
          </a:prstGeom>
        </p:spPr>
      </p:pic>
      <p:sp>
        <p:nvSpPr>
          <p:cNvPr id="7" name="OpenSiri editable wordmark">
            <a:extLst xmlns:a="http://schemas.openxmlformats.org/drawingml/2006/main">
              <a:ext uri="{FF2B5EF4-FFF2-40B4-BE49-F238E27FC236}">
                <a16:creationId xmlns:a16="http://schemas.microsoft.com/office/drawing/2014/main" id="{13404C37-9AED-46A0-B86F-81AC8A11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762125"/>
            <a:ext cx="2952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425" b="1">
                <a:solidFill>
                  <a:srgbClr val="07090B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07090B"/>
                </a:solidFill>
                <a:latin typeface="Arial"/>
                <a:ea typeface="Arial"/>
                <a:cs typeface="Arial"/>
              </a:rPr>
              <a:t>OpenSiri</a:t>
            </a:r>
          </a:p>
        </p:txBody>
      </p:sp>
      <p:sp>
        <p:nvSpPr>
          <p:cNvPr id="8" name="OpenSiri editable cover headline 1">
            <a:extLst xmlns:a="http://schemas.openxmlformats.org/drawingml/2006/main">
              <a:ext uri="{FF2B5EF4-FFF2-40B4-BE49-F238E27FC236}">
                <a16:creationId xmlns:a16="http://schemas.microsoft.com/office/drawing/2014/main" id="{4952FACC-6B7C-44D8-9F1C-60585B78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28925"/>
            <a:ext cx="3238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9727"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0709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575" b="1">
                <a:solidFill>
                  <a:srgbClr val="07090B"/>
                </a:solidFill>
                <a:latin typeface="Hiragino Sans GB"/>
                <a:ea typeface="Hiragino Sans GB"/>
                <a:cs typeface="Hiragino Sans GB"/>
              </a:rPr>
              <a:t>截一张图，</a:t>
            </a:r>
          </a:p>
        </p:txBody>
      </p:sp>
      <p:sp>
        <p:nvSpPr>
          <p:cNvPr id="9" name="OpenSiri editable cover headline 2">
            <a:extLst xmlns:a="http://schemas.openxmlformats.org/drawingml/2006/main">
              <a:ext uri="{FF2B5EF4-FFF2-40B4-BE49-F238E27FC236}">
                <a16:creationId xmlns:a16="http://schemas.microsoft.com/office/drawing/2014/main" id="{BF3A2F78-2F49-4BC0-AB6D-0DA86EE2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533775"/>
            <a:ext cx="4762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0709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125" b="1">
                <a:solidFill>
                  <a:srgbClr val="07090B"/>
                </a:solidFill>
                <a:latin typeface="Hiragino Sans GB"/>
                <a:ea typeface="Hiragino Sans GB"/>
                <a:cs typeface="Hiragino Sans GB"/>
              </a:rPr>
              <a:t>让一支 Agent 团队</a:t>
            </a:r>
          </a:p>
        </p:txBody>
      </p:sp>
      <p:sp>
        <p:nvSpPr>
          <p:cNvPr id="10" name="OpenSiri editable cover headline 3">
            <a:extLst xmlns:a="http://schemas.openxmlformats.org/drawingml/2006/main">
              <a:ext uri="{FF2B5EF4-FFF2-40B4-BE49-F238E27FC236}">
                <a16:creationId xmlns:a16="http://schemas.microsoft.com/office/drawing/2014/main" id="{0F075D61-606E-4B1F-A247-EB887557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248150"/>
            <a:ext cx="4476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0709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275" b="1">
                <a:solidFill>
                  <a:srgbClr val="07090B"/>
                </a:solidFill>
                <a:latin typeface="Hiragino Sans GB"/>
                <a:ea typeface="Hiragino Sans GB"/>
                <a:cs typeface="Hiragino Sans GB"/>
              </a:rPr>
              <a:t>帮你想好怎么回。</a:t>
            </a:r>
          </a:p>
        </p:txBody>
      </p:sp>
    </p:spTree>
    <p:extLst>
      <p:ext uri="{BB962C8B-B14F-4D97-AF65-F5344CB8AC3E}">
        <p14:creationId xmlns:p14="http://schemas.microsoft.com/office/powerpoint/2010/main" val="15795101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91765E-EE0A-4BFD-A8B0-859971D7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C50E3-C8EA-4E90-826A-B9704E18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03640-F822-415F-9188-D73ABBC3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BD2716-5E61-4CA4-9317-FB0F489F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9D9CEC-3A54-43E4-A8F3-9641B749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2A1C0-9E23-45F9-9CA1-25A074D5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A3504E-EF9D-4450-B64C-F44A9A6F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96CB17-45C5-4163-B85E-037F5685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2EB454-7552-4D27-8F4C-A319F8FF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7AC37C-AD85-4CA3-BA63-90E53497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18F00D-7AB5-4D3A-B1D7-16F2C0EC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EC2BAF-32C3-498A-8C62-085C07F0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7CEAC2-00FB-4400-8FFB-AA084F07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86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3508D9-B673-4A13-B16B-E021EEC7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5126F6-1263-4CCE-BD55-54DDD250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A99C98-2824-4BD6-ADAE-CC519EAF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01114"/>
                </a:solidFill>
              </a:defRPr>
            </a:pPr>
            <a:r>
              <a:rPr sz="825" b="1">
                <a:solidFill>
                  <a:srgbClr val="101114"/>
                </a:solidFill>
              </a:rPr>
              <a:t>OPENSIRI / AGENT INFRA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B22C8F-1E0E-4722-BAC4-20552CAD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67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2656A"/>
                </a:solidFill>
              </a:defRPr>
            </a:pPr>
            <a:r>
              <a:rPr sz="825" b="0">
                <a:solidFill>
                  <a:srgbClr val="62656A"/>
                </a:solidFill>
              </a:rPr>
              <a:t>02  USER TENSION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D3B54F-6560-44BC-B92C-5950F4CC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0">
            <a:solidFill>
              <a:srgbClr val="D9DC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1A5F0-47BA-41EF-B18D-5CF1C022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114"/>
                </a:solidFill>
              </a:defRPr>
            </a:pPr>
            <a:r>
              <a:rPr sz="3225" b="1">
                <a:solidFill>
                  <a:srgbClr val="101114"/>
                </a:solidFill>
              </a:rPr>
              <a:t>用户不是缺一句“高情商回复”，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0549D1-2E36-4F5B-A9A3-00E84F0F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2F6BFF"/>
                </a:solidFill>
              </a:defRPr>
            </a:pPr>
            <a:r>
              <a:rPr sz="3225" b="1">
                <a:solidFill>
                  <a:srgbClr val="2F6BFF"/>
                </a:solidFill>
              </a:rPr>
              <a:t>而是缺少理解上下文的协作过程。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855750-F5E8-4058-8BAA-E71E332B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52197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11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E27B46-5143-4A28-80F6-4F8EFED0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2F6BFF"/>
                </a:solidFill>
              </a:defRPr>
            </a:pPr>
            <a:r>
              <a:rPr sz="5400" b="1">
                <a:solidFill>
                  <a:srgbClr val="2F6BFF"/>
                </a:solidFill>
              </a:rPr>
              <a:t>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9842FC-5A63-4BE9-B986-387467EF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86100"/>
            <a:ext cx="4000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01114"/>
                </a:solidFill>
              </a:defRPr>
            </a:pPr>
            <a:r>
              <a:rPr sz="2625" b="1">
                <a:solidFill>
                  <a:srgbClr val="101114"/>
                </a:solidFill>
              </a:rPr>
              <a:t>他这句话是什么意思？</a:t>
            </a:r>
          </a:p>
          <a:p xmlns:a="http://schemas.openxmlformats.org/drawingml/2006/main">
            <a:pPr algn="l">
              <a:buNone/>
              <a:defRPr sz="2625" b="1">
                <a:solidFill>
                  <a:srgbClr val="101114"/>
                </a:solidFill>
              </a:defRPr>
            </a:pPr>
            <a:r>
              <a:rPr sz="2625" b="1">
                <a:solidFill>
                  <a:srgbClr val="101114"/>
                </a:solidFill>
              </a:rPr>
              <a:t>我要不要现在答应？</a:t>
            </a:r>
          </a:p>
          <a:p xmlns:a="http://schemas.openxmlformats.org/drawingml/2006/main">
            <a:pPr algn="l">
              <a:buNone/>
              <a:defRPr sz="2625" b="1">
                <a:solidFill>
                  <a:srgbClr val="101114"/>
                </a:solidFill>
              </a:defRPr>
            </a:pPr>
            <a:r>
              <a:rPr sz="2625" b="1">
                <a:solidFill>
                  <a:srgbClr val="101114"/>
                </a:solidFill>
              </a:rPr>
              <a:t>怎么回才像我？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5EF4A7-0AA8-4596-BB09-91AB74D9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4825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2656A"/>
                </a:solidFill>
              </a:defRPr>
            </a:pPr>
            <a:r>
              <a:rPr sz="1350" b="0">
                <a:solidFill>
                  <a:srgbClr val="62656A"/>
                </a:solidFill>
              </a:rPr>
              <a:t>一张微信截图里同时存在关系、语气、承诺、时机与隐私。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56A62B-0342-42C0-B8D4-DAA43C3B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193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BFF"/>
                </a:solidFill>
              </a:defRPr>
            </a:pPr>
            <a:r>
              <a:rPr sz="1200" b="1">
                <a:solidFill>
                  <a:srgbClr val="2F6BFF"/>
                </a:solidFill>
              </a:rPr>
              <a:t>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2579C2-1557-4C03-A64A-E26E25DF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812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114"/>
                </a:solidFill>
              </a:defRPr>
            </a:pPr>
            <a:r>
              <a:rPr sz="1800" b="1">
                <a:solidFill>
                  <a:srgbClr val="101114"/>
                </a:solidFill>
              </a:rPr>
              <a:t>截图是非结构化输入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03C71F-C7EF-426B-9486-FBD116EE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813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2656A"/>
                </a:solidFill>
              </a:defRPr>
            </a:pPr>
            <a:r>
              <a:rPr sz="1275" b="0">
                <a:solidFill>
                  <a:srgbClr val="62656A"/>
                </a:solidFill>
              </a:rPr>
              <a:t>OCR 文字、气泡顺序和说话人必须先变成可校对的对话。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A45EEF-5082-4011-8DB8-573525C1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90900"/>
            <a:ext cx="4743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0">
            <a:solidFill>
              <a:srgbClr val="D9DCD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CC45C6-87C6-42E9-9326-3C52A4C9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623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BFF"/>
                </a:solidFill>
              </a:defRPr>
            </a:pPr>
            <a:r>
              <a:rPr sz="1200" b="1">
                <a:solidFill>
                  <a:srgbClr val="2F6BFF"/>
                </a:solidFill>
              </a:rPr>
              <a:t>02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212A7E-B3B8-47B2-8DD3-BCD3D232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242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114"/>
                </a:solidFill>
              </a:defRPr>
            </a:pPr>
            <a:r>
              <a:rPr sz="1800" b="1">
                <a:solidFill>
                  <a:srgbClr val="101114"/>
                </a:solidFill>
              </a:rPr>
              <a:t>回复依赖“我是谁”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13A940-E432-4288-B72A-61CEB204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243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2656A"/>
                </a:solidFill>
              </a:defRPr>
            </a:pPr>
            <a:r>
              <a:rPr sz="1275" b="0">
                <a:solidFill>
                  <a:srgbClr val="62656A"/>
                </a:solidFill>
              </a:rPr>
              <a:t>同一句话，对朋友、客户和家人不应该只有一个万能答案。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647CAB-FC36-4002-9F12-25EAFE15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33900"/>
            <a:ext cx="4743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0">
            <a:solidFill>
              <a:srgbClr val="D9DCD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90C39F-7CF9-46A1-8811-C9211819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6BFF"/>
                </a:solidFill>
              </a:defRPr>
            </a:pPr>
            <a:r>
              <a:rPr sz="1200" b="1">
                <a:solidFill>
                  <a:srgbClr val="2F6BFF"/>
                </a:solidFill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5E3880-1753-4551-9DBC-0E58294B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6672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114"/>
                </a:solidFill>
              </a:defRPr>
            </a:pPr>
            <a:r>
              <a:rPr sz="1800" b="1">
                <a:solidFill>
                  <a:srgbClr val="101114"/>
                </a:solidFill>
              </a:rPr>
              <a:t>生成不等于可以发送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F4F3F9-D364-4056-86CA-4C45EF9D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0673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2656A"/>
                </a:solidFill>
              </a:defRPr>
            </a:pPr>
            <a:r>
              <a:rPr sz="1275" b="0">
                <a:solidFill>
                  <a:srgbClr val="62656A"/>
                </a:solidFill>
              </a:rPr>
              <a:t>事实、语气、隐私与过度承诺需要独立验证。</a:t>
            </a:r>
          </a:p>
        </p:txBody>
      </p:sp>
    </p:spTree>
    <p:extLst>
      <p:ext uri="{BB962C8B-B14F-4D97-AF65-F5344CB8AC3E}">
        <p14:creationId xmlns:p14="http://schemas.microsoft.com/office/powerpoint/2010/main" val="4072281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C9213B-7B0C-4D24-9235-0E179A38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01114"/>
                </a:solidFill>
              </a:defRPr>
            </a:pPr>
            <a:r>
              <a:rPr sz="825" b="1">
                <a:solidFill>
                  <a:srgbClr val="101114"/>
                </a:solidFill>
              </a:rPr>
              <a:t>OPENSIRI / AGENT INFRA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38756D-2D92-440A-B5EB-D5F7F1D3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67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2656A"/>
                </a:solidFill>
              </a:defRPr>
            </a:pPr>
            <a:r>
              <a:rPr sz="825" b="0">
                <a:solidFill>
                  <a:srgbClr val="62656A"/>
                </a:solidFill>
              </a:rPr>
              <a:t>03  THE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B127CC-485D-47ED-A482-AA185BB8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0">
            <a:solidFill>
              <a:srgbClr val="D9DC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FFA163-CCA5-4830-B7C4-01FDB721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114"/>
                </a:solidFill>
              </a:defRPr>
            </a:pPr>
            <a:r>
              <a:rPr sz="3225" b="1">
                <a:solidFill>
                  <a:srgbClr val="101114"/>
                </a:solidFill>
              </a:rPr>
              <a:t>OpenSiri 把一张截图，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D05E1E-A4F0-4D30-A0A1-27965B41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2F6BFF"/>
                </a:solidFill>
              </a:defRPr>
            </a:pPr>
            <a:r>
              <a:rPr sz="3225" b="1">
                <a:solidFill>
                  <a:srgbClr val="2F6BFF"/>
                </a:solidFill>
              </a:rPr>
              <a:t>变成可验证的人机协作任务。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175DE7-376F-4090-BF0C-E9F79D63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2656A"/>
                </a:solidFill>
              </a:defRPr>
            </a:pPr>
            <a:r>
              <a:rPr sz="1425" b="0">
                <a:solidFill>
                  <a:srgbClr val="62656A"/>
                </a:solidFill>
              </a:rPr>
              <a:t>不用说“嘿，Siri”。截个图，先让团队商量明白。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26202C-9728-4DCA-A2B3-33C274F7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29000"/>
            <a:ext cx="9944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1011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0DF51C-B464-40B4-9F5B-D319C9A6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76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FAFAF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C0B56-A45C-4D0B-A89F-8BD0456A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93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F6BFF"/>
                </a:solidFill>
              </a:defRPr>
            </a:pPr>
            <a:r>
              <a:rPr sz="900" b="1">
                <a:solidFill>
                  <a:srgbClr val="2F6B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472FAE-8DF0-443C-B64B-82A4518E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814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01114"/>
                </a:solidFill>
              </a:defRPr>
            </a:pPr>
            <a:r>
              <a:rPr sz="1950" b="1">
                <a:solidFill>
                  <a:srgbClr val="101114"/>
                </a:solidFill>
              </a:rPr>
              <a:t>截图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5D35ED-65EF-4321-9F04-39D1A7A6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33875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2656A"/>
                </a:solidFill>
              </a:defRPr>
            </a:pPr>
            <a:r>
              <a:rPr sz="1275" b="0">
                <a:solidFill>
                  <a:srgbClr val="62656A"/>
                </a:solidFill>
              </a:rPr>
              <a:t>复用 Easydict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62656A"/>
                </a:solidFill>
              </a:defRPr>
            </a:pPr>
            <a:r>
              <a:rPr sz="1275" b="0">
                <a:solidFill>
                  <a:srgbClr val="62656A"/>
                </a:solidFill>
              </a:rPr>
              <a:t>全局快捷键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BA9FB3-1803-4F5F-8D53-23D52446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276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FAFA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D06B94-E140-494C-8A52-9C94EE30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6193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F6BFF"/>
                </a:solidFill>
              </a:defRPr>
            </a:pPr>
            <a:r>
              <a:rPr sz="900" b="1">
                <a:solidFill>
                  <a:srgbClr val="2F6B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EDC745-1A91-4380-9D78-21AE491E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7814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01114"/>
                </a:solidFill>
              </a:defRPr>
            </a:pPr>
            <a:r>
              <a:rPr sz="1950" b="1">
                <a:solidFill>
                  <a:srgbClr val="101114"/>
                </a:solidFill>
              </a:rPr>
              <a:t>本地 OCR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532FA8-97A0-4C85-8306-1B37F80F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333875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2656A"/>
                </a:solidFill>
              </a:defRPr>
            </a:pPr>
            <a:r>
              <a:rPr sz="1275" b="0">
                <a:solidFill>
                  <a:srgbClr val="62656A"/>
                </a:solidFill>
              </a:rPr>
              <a:t>识别气泡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62656A"/>
                </a:solidFill>
              </a:defRPr>
            </a:pPr>
            <a:r>
              <a:rPr sz="1275" b="0">
                <a:solidFill>
                  <a:srgbClr val="62656A"/>
                </a:solidFill>
              </a:rPr>
              <a:t>允许人工校对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79A4C3-7ED5-46F0-90EA-DFA1FBE6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76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FAFAF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E0A062-0527-4AF1-B228-CC2CDC7E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193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F6BFF"/>
                </a:solidFill>
              </a:defRPr>
            </a:pPr>
            <a:r>
              <a:rPr sz="900" b="1">
                <a:solidFill>
                  <a:srgbClr val="2F6BF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5942CC-254C-4C10-9358-16EFA134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814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01114"/>
                </a:solidFill>
              </a:defRPr>
            </a:pPr>
            <a:r>
              <a:rPr sz="1950" b="1">
                <a:solidFill>
                  <a:srgbClr val="101114"/>
                </a:solidFill>
              </a:rPr>
              <a:t>团队协作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6D20AD-6306-4064-87D2-D3AC9622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333875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2656A"/>
                </a:solidFill>
              </a:defRPr>
            </a:pPr>
            <a:r>
              <a:rPr sz="1275" b="0">
                <a:solidFill>
                  <a:srgbClr val="62656A"/>
                </a:solidFill>
              </a:rPr>
              <a:t>四个 Worker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62656A"/>
                </a:solidFill>
              </a:defRPr>
            </a:pPr>
            <a:r>
              <a:rPr sz="1275" b="0">
                <a:solidFill>
                  <a:srgbClr val="62656A"/>
                </a:solidFill>
              </a:rPr>
              <a:t>传递结构化上下文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FC727F-449E-4037-85F6-1B591C78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276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FAFAF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9FD344-E853-4D42-8C91-244C3A86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6193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F6BFF"/>
                </a:solidFill>
              </a:defRPr>
            </a:pPr>
            <a:r>
              <a:rPr sz="900" b="1">
                <a:solidFill>
                  <a:srgbClr val="2F6BFF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19AF68-F0E8-4260-B4DF-EBE5FAED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7814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01114"/>
                </a:solidFill>
              </a:defRPr>
            </a:pPr>
            <a:r>
              <a:rPr sz="1950" b="1">
                <a:solidFill>
                  <a:srgbClr val="101114"/>
                </a:solidFill>
              </a:rPr>
              <a:t>独立验证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164A9B-DAB8-45A4-ADA8-C4D51E50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333875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2656A"/>
                </a:solidFill>
              </a:defRPr>
            </a:pPr>
            <a:r>
              <a:rPr sz="1275" b="0">
                <a:solidFill>
                  <a:srgbClr val="62656A"/>
                </a:solidFill>
              </a:rPr>
              <a:t>事实 · 语气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62656A"/>
                </a:solidFill>
              </a:defRPr>
            </a:pPr>
            <a:r>
              <a:rPr sz="1275" b="0">
                <a:solidFill>
                  <a:srgbClr val="62656A"/>
                </a:solidFill>
              </a:rPr>
              <a:t>隐私 · 承诺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864093-B870-4AD8-879B-98F3DB71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276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C99A"/>
          </a:solidFill>
          <a:ln xmlns:a="http://schemas.openxmlformats.org/drawingml/2006/main" w="0">
            <a:solidFill>
              <a:srgbClr val="FAFAF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BE9691-F4FA-4E8A-B3FC-17904718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193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F6BFF"/>
                </a:solidFill>
              </a:defRPr>
            </a:pPr>
            <a:r>
              <a:rPr sz="900" b="1">
                <a:solidFill>
                  <a:srgbClr val="2F6BFF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7EAAC5-A837-4EBB-AC42-2C8DCFFF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7814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01114"/>
                </a:solidFill>
              </a:defRPr>
            </a:pPr>
            <a:r>
              <a:rPr sz="1950" b="1">
                <a:solidFill>
                  <a:srgbClr val="101114"/>
                </a:solidFill>
              </a:rPr>
              <a:t>人工批准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930C6C-92A0-4F27-9217-E9CAC3D6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333875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2656A"/>
                </a:solidFill>
              </a:defRPr>
            </a:pPr>
            <a:r>
              <a:rPr sz="1275" b="0">
                <a:solidFill>
                  <a:srgbClr val="62656A"/>
                </a:solidFill>
              </a:rPr>
              <a:t>复制 / 插入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62656A"/>
                </a:solidFill>
              </a:defRPr>
            </a:pPr>
            <a:r>
              <a:rPr sz="1275" b="0">
                <a:solidFill>
                  <a:srgbClr val="62656A"/>
                </a:solidFill>
              </a:rPr>
              <a:t>永不自动发送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6948A9-55CD-442F-B776-717B8792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11125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AF5"/>
          </a:solidFill>
          <a:ln xmlns:a="http://schemas.openxmlformats.org/drawingml/2006/main" w="9525">
            <a:solidFill>
              <a:srgbClr val="37C99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64CC99-2392-4871-87F6-503B8CE8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051"/>
                </a:solidFill>
              </a:defRPr>
            </a:pPr>
            <a:r>
              <a:rPr sz="900" b="1">
                <a:solidFill>
                  <a:srgbClr val="0A7051"/>
                </a:solidFill>
              </a:rPr>
              <a:t>RECOVERABLE BY DESIGN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C9EF04-7B5A-4439-8159-247C95B4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65785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114"/>
                </a:solidFill>
              </a:defRPr>
            </a:pPr>
            <a:r>
              <a:rPr sz="1275" b="0">
                <a:solidFill>
                  <a:srgbClr val="101114"/>
                </a:solidFill>
              </a:rPr>
              <a:t>OCR 不确定就校对 · 后端断开可重试 · Reviewer 拒绝最多回写两次 · 用户始终拥有最终发送权</a:t>
            </a:r>
          </a:p>
        </p:txBody>
      </p:sp>
    </p:spTree>
    <p:extLst>
      <p:ext uri="{BB962C8B-B14F-4D97-AF65-F5344CB8AC3E}">
        <p14:creationId xmlns:p14="http://schemas.microsoft.com/office/powerpoint/2010/main" val="9430074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AFCD3C2-BC27-4372-A921-B1DAAA65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E0F07C-01D2-4D40-A867-0B718F26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ABF99E-37A7-4D9C-B97E-D93AFC0E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BE417D-3585-4BFB-82DF-1F69133F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653D7-24D3-4047-83A5-C3525A6A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E840BE-D6AF-4C7B-99BC-E1476F47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DD68E-8908-4E52-A219-A70CC2AD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72058F-221A-4EC4-A878-4C967C2E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05F2DA-8455-4490-9D4D-6E0FF315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57E81F-C19D-420E-BDC9-258D9B45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F2E9A9-7A0F-4C77-95F0-52CB6DFA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8B9C84-94D2-47F6-B793-23904C66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14429D-D802-429A-9402-EF28B061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86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942E6A-F931-4EE3-9C00-EBCCB259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D1A7BE-8BDF-4ECF-84C4-DAB555F9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A75785-7FE3-4720-BC6F-56F91DDB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01114"/>
                </a:solidFill>
              </a:defRPr>
            </a:pPr>
            <a:r>
              <a:rPr sz="825" b="1">
                <a:solidFill>
                  <a:srgbClr val="101114"/>
                </a:solidFill>
              </a:rPr>
              <a:t>OPENSIRI / AGENT INFRA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510C2A-0DDC-4B02-BF22-38AE947D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67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2656A"/>
                </a:solidFill>
              </a:defRPr>
            </a:pPr>
            <a:r>
              <a:rPr sz="825" b="0">
                <a:solidFill>
                  <a:srgbClr val="62656A"/>
                </a:solidFill>
              </a:rPr>
              <a:t>04  AGENTTEAMS ARCHITECTURE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569585-E483-4591-873C-1B981681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0">
            <a:solidFill>
              <a:srgbClr val="D9DC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E07DAD-64C2-43DA-B35D-A9E261D7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114"/>
                </a:solidFill>
              </a:defRPr>
            </a:pPr>
            <a:r>
              <a:rPr sz="3225" b="1">
                <a:solidFill>
                  <a:srgbClr val="101114"/>
                </a:solidFill>
              </a:rPr>
              <a:t>四个不同职能 Agent，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D2B498-000C-4509-9318-EF25AE56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2F6BFF"/>
                </a:solidFill>
              </a:defRPr>
            </a:pPr>
            <a:r>
              <a:rPr sz="3225" b="1">
                <a:solidFill>
                  <a:srgbClr val="2F6BFF"/>
                </a:solidFill>
              </a:rPr>
              <a:t>不是四次相同的提示词。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222A7B-917E-4CE2-9680-E0273CBA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1011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9EBCE4-4BB0-4D75-9E87-329C50A0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00375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258EC9-91D2-4551-A62F-72FFDE90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00375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44A5FC-5F4D-41ED-A012-284FE5C3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00375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A8928A-E98F-4E02-8D8A-03D9DE9A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17526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11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A5F7CA-E7FA-4F3B-8513-4AFEA14D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BFF"/>
                </a:solidFill>
              </a:defRPr>
            </a:pPr>
            <a:r>
              <a:rPr sz="900" b="1">
                <a:solidFill>
                  <a:srgbClr val="2F6BFF"/>
                </a:solidFill>
              </a:rPr>
              <a:t>A1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CBC3CA-ED1D-4877-B26C-9D924467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908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114"/>
                </a:solidFill>
              </a:defRPr>
            </a:pPr>
            <a:r>
              <a:rPr sz="1725" b="1">
                <a:solidFill>
                  <a:srgbClr val="101114"/>
                </a:solidFill>
              </a:rPr>
              <a:t>对话分析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CBB8EA-574E-42BC-AD27-FDA6597B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766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2656A"/>
                </a:solidFill>
              </a:defRPr>
            </a:pPr>
            <a:r>
              <a:rPr sz="1050" b="0">
                <a:solidFill>
                  <a:srgbClr val="62656A"/>
                </a:solidFill>
              </a:rPr>
              <a:t>意图 / 情绪 / 待回应事项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41584A-98EF-4886-BA1D-78B30693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28900"/>
            <a:ext cx="17526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11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5E12B9-A543-47F2-BA06-331FDF13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003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BFF"/>
                </a:solidFill>
              </a:defRPr>
            </a:pPr>
            <a:r>
              <a:rPr sz="900" b="1">
                <a:solidFill>
                  <a:srgbClr val="2F6BFF"/>
                </a:solidFill>
              </a:rPr>
              <a:t>A2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DF7AFB-A841-4065-9C16-F048EBD9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908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114"/>
                </a:solidFill>
              </a:defRPr>
            </a:pPr>
            <a:r>
              <a:rPr sz="1725" b="1">
                <a:solidFill>
                  <a:srgbClr val="101114"/>
                </a:solidFill>
              </a:rPr>
              <a:t>用户上下文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BE771F-83A3-4568-918B-3743DED0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766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2656A"/>
                </a:solidFill>
              </a:defRPr>
            </a:pPr>
            <a:r>
              <a:rPr sz="1050" b="0">
                <a:solidFill>
                  <a:srgbClr val="62656A"/>
                </a:solidFill>
              </a:rPr>
              <a:t>关系 / 语气 / 禁止承诺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2BE20F-EB3B-4A1A-88F9-7F9CDA6A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28900"/>
            <a:ext cx="17526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111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1C7578-E424-42AF-8177-6533A164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003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BFF"/>
                </a:solidFill>
              </a:defRPr>
            </a:pPr>
            <a:r>
              <a:rPr sz="900" b="1">
                <a:solidFill>
                  <a:srgbClr val="2F6BFF"/>
                </a:solidFill>
              </a:rPr>
              <a:t>A3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A0850D-63E0-4E4D-BF94-0D032768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908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114"/>
                </a:solidFill>
              </a:defRPr>
            </a:pPr>
            <a:r>
              <a:rPr sz="1725" b="1">
                <a:solidFill>
                  <a:srgbClr val="101114"/>
                </a:solidFill>
              </a:rPr>
              <a:t>回复策略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418744-D0CE-451A-9636-B745A270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766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2656A"/>
                </a:solidFill>
              </a:defRPr>
            </a:pPr>
            <a:r>
              <a:rPr sz="1050" b="0">
                <a:solidFill>
                  <a:srgbClr val="62656A"/>
                </a:solidFill>
              </a:rPr>
              <a:t>简洁 / 友好 / 稳妥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FC446C-B5F7-46A8-93EF-5CD578D8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28900"/>
            <a:ext cx="17526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AF5"/>
          </a:solidFill>
          <a:ln xmlns:a="http://schemas.openxmlformats.org/drawingml/2006/main" w="9525">
            <a:solidFill>
              <a:srgbClr val="37C99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2F43D5-2FF2-438D-B0ED-B50EBE67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003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BFF"/>
                </a:solidFill>
              </a:defRPr>
            </a:pPr>
            <a:r>
              <a:rPr sz="900" b="1">
                <a:solidFill>
                  <a:srgbClr val="2F6BFF"/>
                </a:solidFill>
              </a:rPr>
              <a:t>A4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FC8652-187D-4B7D-BDE3-FC2B3A1F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908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114"/>
                </a:solidFill>
              </a:defRPr>
            </a:pPr>
            <a:r>
              <a:rPr sz="1725" b="1">
                <a:solidFill>
                  <a:srgbClr val="101114"/>
                </a:solidFill>
              </a:rPr>
              <a:t>质量验证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3C2D32-1278-4B89-BBC9-D57D8E67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766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2656A"/>
                </a:solidFill>
              </a:defRPr>
            </a:pPr>
            <a:r>
              <a:rPr sz="1050" b="0">
                <a:solidFill>
                  <a:srgbClr val="62656A"/>
                </a:solidFill>
              </a:rPr>
              <a:t>通过 / 注意 / 拒绝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FE5CDA-08C5-4DD3-97C3-CECFD26C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148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F6BFF"/>
                </a:solidFill>
              </a:defRPr>
            </a:pPr>
            <a:r>
              <a:rPr sz="900" b="1">
                <a:solidFill>
                  <a:srgbClr val="2F6BFF"/>
                </a:solidFill>
              </a:rPr>
              <a:t>MATRIX ROOM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13C5407-BFF9-43B3-9BA6-ACAE00FC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387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01114"/>
                </a:solidFill>
              </a:defRPr>
            </a:pPr>
            <a:r>
              <a:rPr sz="1350" b="0">
                <a:solidFill>
                  <a:srgbClr val="101114"/>
                </a:solidFill>
              </a:rPr>
              <a:t>任务、状态、证据与人工消息都在同一协作空间中可见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4B5817E-8C28-41C9-A075-DB03AEA1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38400"/>
            <a:ext cx="24003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10111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8E26599-A243-4F53-89C0-B3076A59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86050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7C99A"/>
                </a:solidFill>
              </a:defRPr>
            </a:pPr>
            <a:r>
              <a:rPr sz="900" b="1">
                <a:solidFill>
                  <a:srgbClr val="37C99A"/>
                </a:solidFill>
              </a:rPr>
              <a:t>TEAM LEADER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9E143EF-6C34-47D0-A3A4-D2258BF9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33725"/>
            <a:ext cx="1943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负责交接，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不替代 Worker。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AF8AAF9-AA6B-49B8-9923-CEC4A62C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143375"/>
            <a:ext cx="1943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474D"/>
          </a:solidFill>
          <a:ln xmlns:a="http://schemas.openxmlformats.org/drawingml/2006/main" w="0">
            <a:solidFill>
              <a:srgbClr val="45474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4763281-1BEC-4A5F-B7A3-46C72AFC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362450"/>
            <a:ext cx="1943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D9DDDF"/>
                </a:solidFill>
              </a:defRPr>
            </a:pPr>
            <a:r>
              <a:rPr sz="1200" b="0">
                <a:solidFill>
                  <a:srgbClr val="D9DDDF"/>
                </a:solidFill>
              </a:rPr>
              <a:t>Reviewer 可以打回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D9DDDF"/>
                </a:solidFill>
              </a:defRPr>
            </a:pPr>
            <a:r>
              <a:rPr sz="1200" b="0">
                <a:solidFill>
                  <a:srgbClr val="D9DDDF"/>
                </a:solidFill>
              </a:rPr>
              <a:t>Strategist 重写；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D9DDDF"/>
                </a:solidFill>
              </a:defRPr>
            </a:pPr>
            <a:r>
              <a:rPr sz="1200" b="0">
                <a:solidFill>
                  <a:srgbClr val="D9DDDF"/>
                </a:solidFill>
              </a:rPr>
              <a:t>最多 2 次。</a:t>
            </a:r>
          </a:p>
        </p:txBody>
      </p:sp>
    </p:spTree>
    <p:extLst>
      <p:ext uri="{BB962C8B-B14F-4D97-AF65-F5344CB8AC3E}">
        <p14:creationId xmlns:p14="http://schemas.microsoft.com/office/powerpoint/2010/main" val="6644518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FC0F0A-CE58-4E7F-9A0E-28C0A3B2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01114"/>
                </a:solidFill>
              </a:defRPr>
            </a:pPr>
            <a:r>
              <a:rPr sz="825" b="1">
                <a:solidFill>
                  <a:srgbClr val="101114"/>
                </a:solidFill>
              </a:rPr>
              <a:t>OPENSIRI / AGENT INFRA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BB2FA9-69E6-4C75-AFDE-4712A1CA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67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2656A"/>
                </a:solidFill>
              </a:defRPr>
            </a:pPr>
            <a:r>
              <a:rPr sz="825" b="0">
                <a:solidFill>
                  <a:srgbClr val="62656A"/>
                </a:solidFill>
              </a:rPr>
              <a:t>05  THREE BUILT-IN SKILLS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D020F0-11A8-40BC-8171-41DC699C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0">
            <a:solidFill>
              <a:srgbClr val="D9DC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708C08-8738-4D58-A503-E6722B7F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114"/>
                </a:solidFill>
              </a:defRPr>
            </a:pPr>
            <a:r>
              <a:rPr sz="3225" b="1">
                <a:solidFill>
                  <a:srgbClr val="101114"/>
                </a:solidFill>
              </a:rPr>
              <a:t>主 Skill 先做深，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F1AEDF-AD52-48FD-927E-54025270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2F6BFF"/>
                </a:solidFill>
              </a:defRPr>
            </a:pPr>
            <a:r>
              <a:rPr sz="3225" b="1">
                <a:solidFill>
                  <a:srgbClr val="2F6BFF"/>
                </a:solidFill>
              </a:rPr>
              <a:t>另外两项复用同一基础设施。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0BEEA-42EA-4E4F-884F-9D7CEB12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BFF"/>
                </a:solidFill>
              </a:defRPr>
            </a:pPr>
            <a:r>
              <a:rPr sz="900" b="1">
                <a:solidFill>
                  <a:srgbClr val="2F6BFF"/>
                </a:solidFill>
              </a:rPr>
              <a:t>SKILL / 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FDF93-E292-4F1D-9660-E00E9C45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1465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1114"/>
                </a:solidFill>
              </a:defRPr>
            </a:pPr>
            <a:r>
              <a:rPr sz="2700" b="1">
                <a:solidFill>
                  <a:srgbClr val="101114"/>
                </a:solidFill>
              </a:rPr>
              <a:t>微信截图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01114"/>
                </a:solidFill>
              </a:defRPr>
            </a:pPr>
            <a:r>
              <a:rPr sz="2700" b="1">
                <a:solidFill>
                  <a:srgbClr val="101114"/>
                </a:solidFill>
              </a:rPr>
              <a:t>智能回复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B579CB-B5FD-47ED-995C-FAAE3AA5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719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F6BFF"/>
                </a:solidFill>
              </a:defRPr>
            </a:pPr>
            <a:r>
              <a:rPr sz="1500" b="1">
                <a:solidFill>
                  <a:srgbClr val="2F6BFF"/>
                </a:solidFill>
              </a:rPr>
              <a:t>“这句话，到底该怎么回？”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66729B-3477-4D4D-82AB-937F5FE9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2656A"/>
                </a:solidFill>
              </a:defRPr>
            </a:pPr>
            <a:r>
              <a:rPr sz="1275" b="0">
                <a:solidFill>
                  <a:srgbClr val="62656A"/>
                </a:solidFill>
              </a:rPr>
              <a:t>识别对话 · 结合用户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2656A"/>
                </a:solidFill>
              </a:defRPr>
            </a:pPr>
            <a:r>
              <a:rPr sz="1275" b="0">
                <a:solidFill>
                  <a:srgbClr val="62656A"/>
                </a:solidFill>
              </a:rPr>
              <a:t>生成三条经验证候选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841456-0303-44D5-997B-B5BD9229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AC6FE6-A8E7-411C-AD95-32B04771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864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2656A"/>
                </a:solidFill>
              </a:defRPr>
            </a:pPr>
            <a:r>
              <a:rPr sz="900" b="0">
                <a:solidFill>
                  <a:srgbClr val="62656A"/>
                </a:solidFill>
              </a:rPr>
              <a:t>完整端到端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25D5F5-1E4C-4609-A7FC-F0364295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381250"/>
            <a:ext cx="95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0">
            <a:solidFill>
              <a:srgbClr val="D9DC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5C5EA9-BA5A-43D9-B1F4-5BF10784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812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1114"/>
                </a:solidFill>
              </a:defRPr>
            </a:pPr>
            <a:r>
              <a:rPr sz="900" b="1">
                <a:solidFill>
                  <a:srgbClr val="101114"/>
                </a:solidFill>
              </a:rPr>
              <a:t>SKILL / 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D2BE9C-F349-489E-9158-DDC0D2F7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1465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1114"/>
                </a:solidFill>
              </a:defRPr>
            </a:pPr>
            <a:r>
              <a:rPr sz="2700" b="1">
                <a:solidFill>
                  <a:srgbClr val="101114"/>
                </a:solidFill>
              </a:rPr>
              <a:t>划词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01114"/>
                </a:solidFill>
              </a:defRPr>
            </a:pPr>
            <a:r>
              <a:rPr sz="2700" b="1">
                <a:solidFill>
                  <a:srgbClr val="101114"/>
                </a:solidFill>
              </a:rPr>
              <a:t>改写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BBB2ED-7DEF-4773-B138-5513E615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1719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114"/>
                </a:solidFill>
              </a:defRPr>
            </a:pPr>
            <a:r>
              <a:rPr sz="1500" b="1">
                <a:solidFill>
                  <a:srgbClr val="101114"/>
                </a:solidFill>
              </a:rPr>
              <a:t>“换个说法，但还是像我。”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7FD7F1-D084-4004-8369-9CB4812F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8577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2656A"/>
                </a:solidFill>
              </a:defRPr>
            </a:pPr>
            <a:r>
              <a:rPr sz="1275" b="0">
                <a:solidFill>
                  <a:srgbClr val="62656A"/>
                </a:solidFill>
              </a:rPr>
              <a:t>扩写 · 缩写 · 润色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2656A"/>
                </a:solidFill>
              </a:defRPr>
            </a:pPr>
            <a:r>
              <a:rPr sz="1275" b="0">
                <a:solidFill>
                  <a:srgbClr val="62656A"/>
                </a:solidFill>
              </a:rPr>
              <a:t>语气转换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29B3DC-F014-4770-A990-BA5E056E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715000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1011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9C917F-E093-400C-AFF4-C20EC5BA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8864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2656A"/>
                </a:solidFill>
              </a:defRPr>
            </a:pPr>
            <a:r>
              <a:rPr sz="900" b="0">
                <a:solidFill>
                  <a:srgbClr val="62656A"/>
                </a:solidFill>
              </a:rPr>
              <a:t>合同 + 可重放链路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891685-5834-4244-8546-96D3E469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81250"/>
            <a:ext cx="95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0">
            <a:solidFill>
              <a:srgbClr val="D9DC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FE5861-0CC5-4BFE-A9BC-AD78AAAC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812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7C99A"/>
                </a:solidFill>
              </a:defRPr>
            </a:pPr>
            <a:r>
              <a:rPr sz="900" b="1">
                <a:solidFill>
                  <a:srgbClr val="37C99A"/>
                </a:solidFill>
              </a:rPr>
              <a:t>SKILL / 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01B1C9-68D4-47E5-8D28-E739223C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1114"/>
                </a:solidFill>
              </a:defRPr>
            </a:pPr>
            <a:r>
              <a:rPr sz="2700" b="1">
                <a:solidFill>
                  <a:srgbClr val="101114"/>
                </a:solidFill>
              </a:rPr>
              <a:t>截图行动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01114"/>
                </a:solidFill>
              </a:defRPr>
            </a:pPr>
            <a:r>
              <a:rPr sz="2700" b="1">
                <a:solidFill>
                  <a:srgbClr val="101114"/>
                </a:solidFill>
              </a:rPr>
              <a:t>建议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3C9B83-9E1C-4A6B-8FAF-87D4329F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1719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7C99A"/>
                </a:solidFill>
              </a:defRPr>
            </a:pPr>
            <a:r>
              <a:rPr sz="1500" b="1">
                <a:solidFill>
                  <a:srgbClr val="37C99A"/>
                </a:solidFill>
              </a:rPr>
              <a:t>“我看懂了，然后呢？”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A2E7B3-EEFF-4719-877D-7E951FF3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8577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2656A"/>
                </a:solidFill>
              </a:defRPr>
            </a:pPr>
            <a:r>
              <a:rPr sz="1275" b="0">
                <a:solidFill>
                  <a:srgbClr val="62656A"/>
                </a:solidFill>
              </a:rPr>
              <a:t>理解截图 · 标记风险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2656A"/>
                </a:solidFill>
              </a:defRPr>
            </a:pPr>
            <a:r>
              <a:rPr sz="1275" b="0">
                <a:solidFill>
                  <a:srgbClr val="62656A"/>
                </a:solidFill>
              </a:rPr>
              <a:t>给出下一步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69B5A1-6091-45D1-B63E-E2E4E3A2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715000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C99A"/>
          </a:solidFill>
          <a:ln xmlns:a="http://schemas.openxmlformats.org/drawingml/2006/main" w="0">
            <a:solidFill>
              <a:srgbClr val="37C99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8C15A5-92A5-4900-98D3-C0F24A84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8864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2656A"/>
                </a:solidFill>
              </a:defRPr>
            </a:pPr>
            <a:r>
              <a:rPr sz="900" b="0">
                <a:solidFill>
                  <a:srgbClr val="62656A"/>
                </a:solidFill>
              </a:rPr>
              <a:t>合同 + 可重放链路</a:t>
            </a:r>
          </a:p>
        </p:txBody>
      </p:sp>
    </p:spTree>
    <p:extLst>
      <p:ext uri="{BB962C8B-B14F-4D97-AF65-F5344CB8AC3E}">
        <p14:creationId xmlns:p14="http://schemas.microsoft.com/office/powerpoint/2010/main" val="15809616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1F14BB-2797-44F5-8AFC-D5E88D87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A97C5-C411-4F47-90B3-76F64350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E28B4D-5A18-4F61-ABD2-5DAA7D74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99708-D89C-4FDB-BE7F-8DD1D8F1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EB33AE-2964-430E-BDD4-62B85FD7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25540-1AE5-4222-B42B-E40CAA10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1DEB13-3A70-4FD1-85B7-0F941521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3D5DA4-6EAA-45C7-A1E8-367B2675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52872E-3A3A-42C1-AE07-462EFF09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C1B312-949F-467F-95A9-57DBF717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52C6C5-A022-4BED-90DF-91533708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10E9A4-1008-4C9B-8FA9-4FFE89CA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914902-F82E-40F4-B343-CEDAF9B6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86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410CC1-6973-4B2E-8778-67D2F2EE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840CF1-D404-45FD-90B6-EC3C1A6C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361746-B846-4F47-9DB0-765594E5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01114"/>
                </a:solidFill>
              </a:defRPr>
            </a:pPr>
            <a:r>
              <a:rPr sz="825" b="1">
                <a:solidFill>
                  <a:srgbClr val="101114"/>
                </a:solidFill>
              </a:rPr>
              <a:t>OPENSIRI / AGENT INFRA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83D058-B2FA-494D-B6F5-C2EC9794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67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2656A"/>
                </a:solidFill>
              </a:defRPr>
            </a:pPr>
            <a:r>
              <a:rPr sz="825" b="0">
                <a:solidFill>
                  <a:srgbClr val="62656A"/>
                </a:solidFill>
              </a:rPr>
              <a:t>06  FEASIBILITY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039600-A27E-4B4F-9827-1F13FD65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0">
            <a:solidFill>
              <a:srgbClr val="D9DC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021984-FD46-4287-859E-8EAB3574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114"/>
                </a:solidFill>
              </a:defRPr>
            </a:pPr>
            <a:r>
              <a:rPr sz="3225" b="1">
                <a:solidFill>
                  <a:srgbClr val="101114"/>
                </a:solidFill>
              </a:rPr>
              <a:t>Easydict 已解决“怎么进入系统”，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899CBB-32D3-4A46-9FAD-82363672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2F6BFF"/>
                </a:solidFill>
              </a:defRPr>
            </a:pPr>
            <a:r>
              <a:rPr sz="3225" b="1">
                <a:solidFill>
                  <a:srgbClr val="2F6BFF"/>
                </a:solidFill>
              </a:rPr>
              <a:t>AgentTeams 解决“进入后谁来协作”。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B00E7D-D983-4895-9013-4D181CDE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476250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11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9F69B3-38D3-4B1B-BDB2-BB978C62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BFF"/>
                </a:solidFill>
              </a:defRPr>
            </a:pPr>
            <a:r>
              <a:rPr sz="900" b="1">
                <a:solidFill>
                  <a:srgbClr val="2F6BFF"/>
                </a:solidFill>
              </a:rPr>
              <a:t>EXPERIENCE PLANE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F49555-1FAF-4623-ADB2-6CD6E5C9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114"/>
                </a:solidFill>
              </a:defRPr>
            </a:pPr>
            <a:r>
              <a:rPr sz="2250" b="1">
                <a:solidFill>
                  <a:srgbClr val="101114"/>
                </a:solidFill>
              </a:rPr>
              <a:t>Easydict / OpenSiri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B38A37-C53F-49CB-ABBB-758AEF61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3905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1114"/>
                </a:solidFill>
              </a:defRPr>
            </a:pPr>
            <a:r>
              <a:rPr sz="1500" b="0">
                <a:solidFill>
                  <a:srgbClr val="101114"/>
                </a:solidFill>
              </a:rPr>
              <a:t>✓ 全局快捷键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01114"/>
                </a:solidFill>
              </a:defRPr>
            </a:pPr>
            <a:r>
              <a:rPr sz="1500" b="0">
                <a:solidFill>
                  <a:srgbClr val="101114"/>
                </a:solidFill>
              </a:rPr>
              <a:t>✓ 区域截图与本地 OCR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01114"/>
                </a:solidFill>
              </a:defRPr>
            </a:pPr>
            <a:r>
              <a:rPr sz="1500" b="0">
                <a:solidFill>
                  <a:srgbClr val="101114"/>
                </a:solidFill>
              </a:rPr>
              <a:t>✓ 划词、当前输入框与剪贴板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01114"/>
                </a:solidFill>
              </a:defRPr>
            </a:pPr>
            <a:r>
              <a:rPr sz="1500" b="0">
                <a:solidFill>
                  <a:srgbClr val="101114"/>
                </a:solidFill>
              </a:rPr>
              <a:t>✓ 浮动窗口与安全文本回写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49233F-DCE7-4EA3-A9B3-61418108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959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656A"/>
                </a:solidFill>
              </a:defRPr>
            </a:pPr>
            <a:r>
              <a:rPr sz="1200" b="0">
                <a:solidFill>
                  <a:srgbClr val="62656A"/>
                </a:solidFill>
              </a:rPr>
              <a:t>最昂贵的 macOS 平台能力已经存在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A6B9A1-5218-4080-AC79-81A38B08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2900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5100" b="1">
                <a:solidFill>
                  <a:srgbClr val="2F6BFF"/>
                </a:solidFill>
              </a:defRPr>
            </a:pPr>
            <a:r>
              <a:rPr sz="5100" b="1">
                <a:solidFill>
                  <a:srgbClr val="2F6BFF"/>
                </a:solidFill>
              </a:rPr>
              <a:t>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F9C3AD-C9E7-48E1-980A-03C5D8B2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66950"/>
            <a:ext cx="476250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1011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52ADF1-9045-4D8D-BCCC-ECAAD2A3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7C99A"/>
                </a:solidFill>
              </a:defRPr>
            </a:pPr>
            <a:r>
              <a:rPr sz="900" b="1">
                <a:solidFill>
                  <a:srgbClr val="37C99A"/>
                </a:solidFill>
              </a:rPr>
              <a:t>COLLABORATION PLANE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3078EF-3E5D-48AC-91C8-E343F50F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527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AgentTeams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71268E-8043-4E03-9D7E-3731D492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00450"/>
            <a:ext cx="3905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✓ Manager / Team Leader / Worker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✓ Matrix 房间中的人机协作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✓ Worker.spec.skills 分发能力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✓ 状态、产物与凭证隔离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E70CE7-66A7-4A53-AC29-657DDBC8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2959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8BCC1"/>
                </a:solidFill>
              </a:defRPr>
            </a:pPr>
            <a:r>
              <a:rPr sz="1200" b="0">
                <a:solidFill>
                  <a:srgbClr val="B8BCC1"/>
                </a:solidFill>
              </a:rPr>
              <a:t>不在 App 进程里重造一套多 Agent 平台</a:t>
            </a:r>
          </a:p>
        </p:txBody>
      </p:sp>
    </p:spTree>
    <p:extLst>
      <p:ext uri="{BB962C8B-B14F-4D97-AF65-F5344CB8AC3E}">
        <p14:creationId xmlns:p14="http://schemas.microsoft.com/office/powerpoint/2010/main" val="346495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7F2B54-62E7-431C-85B3-D0145430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01114"/>
                </a:solidFill>
              </a:defRPr>
            </a:pPr>
            <a:r>
              <a:rPr sz="825" b="1">
                <a:solidFill>
                  <a:srgbClr val="101114"/>
                </a:solidFill>
              </a:rPr>
              <a:t>OPENSIRI / AGENT INFRA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6AB8A0-3AAE-4531-ABDC-CD43BEA4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67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2656A"/>
                </a:solidFill>
              </a:defRPr>
            </a:pPr>
            <a:r>
              <a:rPr sz="825" b="0">
                <a:solidFill>
                  <a:srgbClr val="62656A"/>
                </a:solidFill>
              </a:rPr>
              <a:t>07  OBSERVABLE + RECOVERABLE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D47402-A508-4862-8E09-11855462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0">
            <a:solidFill>
              <a:srgbClr val="D9DC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7B25B2-FE24-4191-BCC0-605E25D2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114"/>
                </a:solidFill>
              </a:defRPr>
            </a:pPr>
            <a:r>
              <a:rPr sz="3225" b="1">
                <a:solidFill>
                  <a:srgbClr val="101114"/>
                </a:solidFill>
              </a:rPr>
              <a:t>从截图到回复，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F10FC5-360E-4D86-A050-B474649B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2F6BFF"/>
                </a:solidFill>
              </a:defRPr>
            </a:pPr>
            <a:r>
              <a:rPr sz="3225" b="1">
                <a:solidFill>
                  <a:srgbClr val="2F6BFF"/>
                </a:solidFill>
              </a:rPr>
              <a:t>每一步都能被看见和纠正。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C56713-005B-4AE6-B6CE-D6A7650A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10534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1011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703755-422E-4082-B4DE-303096AB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52775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FAFAF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215CF9-B6EC-4A9B-84AD-1DEB0F08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57600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1114"/>
                </a:solidFill>
              </a:defRPr>
            </a:pPr>
            <a:r>
              <a:rPr sz="1500" b="1">
                <a:solidFill>
                  <a:srgbClr val="101114"/>
                </a:solidFill>
              </a:rPr>
              <a:t>截图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88F4F1-C14B-4F3E-9AA3-177BB373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152775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FAFAF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1E1260-6019-4A77-9C18-2C283085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657600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1114"/>
                </a:solidFill>
              </a:defRPr>
            </a:pPr>
            <a:r>
              <a:rPr sz="1500" b="1">
                <a:solidFill>
                  <a:srgbClr val="101114"/>
                </a:solidFill>
              </a:rPr>
              <a:t>校对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9B8A01-DA64-4DC9-B0E5-447748B4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52775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FAFAF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73A84E-C88D-4F8B-9309-5CC2C57E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57600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1114"/>
                </a:solidFill>
              </a:defRPr>
            </a:pPr>
            <a:r>
              <a:rPr sz="1500" b="1">
                <a:solidFill>
                  <a:srgbClr val="101114"/>
                </a:solidFill>
              </a:rPr>
              <a:t>提交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57E6BC-16E1-4FB2-B639-071F551A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152775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FAFAF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4FEC8A-2D7D-4FE2-9CEE-F11BA467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657600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1114"/>
                </a:solidFill>
              </a:defRPr>
            </a:pPr>
            <a:r>
              <a:rPr sz="1500" b="1">
                <a:solidFill>
                  <a:srgbClr val="101114"/>
                </a:solidFill>
              </a:rPr>
              <a:t>分析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35C7EC-D2AD-406C-9401-2905DEF3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FAFAF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86AF1F-35AC-464A-830F-9B81DF1F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57600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1114"/>
                </a:solidFill>
              </a:defRPr>
            </a:pPr>
            <a:r>
              <a:rPr sz="1500" b="1">
                <a:solidFill>
                  <a:srgbClr val="101114"/>
                </a:solidFill>
              </a:rPr>
              <a:t>生成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2F28F6-AB82-4FF3-ACBF-144AD25D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152775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FAFAF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04A231-2681-4A0C-AD1B-EBAC5AEC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657600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1114"/>
                </a:solidFill>
              </a:defRPr>
            </a:pPr>
            <a:r>
              <a:rPr sz="1500" b="1">
                <a:solidFill>
                  <a:srgbClr val="101114"/>
                </a:solidFill>
              </a:rPr>
              <a:t>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44B084-6538-4F17-858B-13880677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52775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C99A"/>
          </a:solidFill>
          <a:ln xmlns:a="http://schemas.openxmlformats.org/drawingml/2006/main" w="0">
            <a:solidFill>
              <a:srgbClr val="FAFAF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0B3E7A-A8AE-40BC-9B51-C27AA165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57600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1114"/>
                </a:solidFill>
              </a:defRPr>
            </a:pPr>
            <a:r>
              <a:rPr sz="1500" b="1">
                <a:solidFill>
                  <a:srgbClr val="101114"/>
                </a:solidFill>
              </a:rPr>
              <a:t>批准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C45672-769F-422A-9D22-0185C0D0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3152775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FAFAF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E199CA-D5AC-40DB-89C2-87516760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3657600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1114"/>
                </a:solidFill>
              </a:defRPr>
            </a:pPr>
            <a:r>
              <a:rPr sz="1500" b="1">
                <a:solidFill>
                  <a:srgbClr val="101114"/>
                </a:solidFill>
              </a:rPr>
              <a:t>插入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84083E-7749-4961-8375-2D571AE4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BFF"/>
                </a:solidFill>
              </a:defRPr>
            </a:pPr>
            <a:r>
              <a:rPr sz="900" b="1">
                <a:solidFill>
                  <a:srgbClr val="2F6BFF"/>
                </a:solidFill>
              </a:rPr>
              <a:t>NORMAL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58D3E8-81F2-4407-8398-A8CBF813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3105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94871B-625D-4B05-9917-F156B7EB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482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114"/>
                </a:solidFill>
              </a:defRPr>
            </a:pPr>
            <a:r>
              <a:rPr sz="1425" b="1">
                <a:solidFill>
                  <a:srgbClr val="101114"/>
                </a:solidFill>
              </a:rPr>
              <a:t>OCR 不确定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DAC35E-17F2-44E1-802A-BC8F9242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482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2656A"/>
                </a:solidFill>
              </a:defRPr>
            </a:pPr>
            <a:r>
              <a:rPr sz="1125" b="0">
                <a:solidFill>
                  <a:srgbClr val="62656A"/>
                </a:solidFill>
              </a:rPr>
              <a:t>回到校对；不把错误对话交给 Agent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83CB92-CF6C-4E62-896E-57763FA5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457700"/>
            <a:ext cx="3105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9525">
            <a:solidFill>
              <a:srgbClr val="1011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9C0FC3-6037-485D-B1C3-DD210F21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6482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114"/>
                </a:solidFill>
              </a:defRPr>
            </a:pPr>
            <a:r>
              <a:rPr sz="1425" b="1">
                <a:solidFill>
                  <a:srgbClr val="101114"/>
                </a:solidFill>
              </a:rPr>
              <a:t>Reviewer 拒绝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068212-889A-4D7F-A0F8-653EEF70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50482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2656A"/>
                </a:solidFill>
              </a:defRPr>
            </a:pPr>
            <a:r>
              <a:rPr sz="1125" b="0">
                <a:solidFill>
                  <a:srgbClr val="62656A"/>
                </a:solidFill>
              </a:rPr>
              <a:t>带 reason code 回写，最多重试两次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F97F8B-BE1B-456D-8A2A-11C167A2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57700"/>
            <a:ext cx="3009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AF5"/>
          </a:solidFill>
          <a:ln xmlns:a="http://schemas.openxmlformats.org/drawingml/2006/main" w="9525">
            <a:solidFill>
              <a:srgbClr val="37C99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9FDB1C-DA9C-491F-8DBC-B2E1748F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48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114"/>
                </a:solidFill>
              </a:defRPr>
            </a:pPr>
            <a:r>
              <a:rPr sz="1425" b="1">
                <a:solidFill>
                  <a:srgbClr val="101114"/>
                </a:solidFill>
              </a:rPr>
              <a:t>后端断开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F6E34F-F30D-404E-8BC6-ED23F0EA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0482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2656A"/>
                </a:solidFill>
              </a:defRPr>
            </a:pPr>
            <a:r>
              <a:rPr sz="1125" b="0">
                <a:solidFill>
                  <a:srgbClr val="62656A"/>
                </a:solidFill>
              </a:rPr>
              <a:t>保留同一 task ID，恢复后幂等重试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DB0DF9-73A1-4E8D-8912-5F146695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198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2F6BFF"/>
                </a:solidFill>
              </a:defRPr>
            </a:pPr>
            <a:r>
              <a:rPr sz="825" b="1">
                <a:solidFill>
                  <a:srgbClr val="2F6BFF"/>
                </a:solidFill>
              </a:rPr>
              <a:t>EVIDENCE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0C00C3-B12C-47CB-8C77-CAB32621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817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1114"/>
                </a:solidFill>
              </a:defRPr>
            </a:pPr>
            <a:r>
              <a:rPr sz="1200" b="0">
                <a:solidFill>
                  <a:srgbClr val="101114"/>
                </a:solidFill>
              </a:rPr>
              <a:t>Agent 状态 · 处理耗时 · 验证结论 · reason code · 人工修改摘要</a:t>
            </a:r>
          </a:p>
        </p:txBody>
      </p:sp>
    </p:spTree>
    <p:extLst>
      <p:ext uri="{BB962C8B-B14F-4D97-AF65-F5344CB8AC3E}">
        <p14:creationId xmlns:p14="http://schemas.microsoft.com/office/powerpoint/2010/main" val="3042576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1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3583AF-4631-4CC3-AD79-7C115745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A2F"/>
          </a:solidFill>
          <a:ln xmlns:a="http://schemas.openxmlformats.org/drawingml/2006/main" w="0">
            <a:solidFill>
              <a:srgbClr val="282A2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2EF679-FBC4-4479-B72C-2AEF73E1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A2F"/>
          </a:solidFill>
          <a:ln xmlns:a="http://schemas.openxmlformats.org/drawingml/2006/main" w="0">
            <a:solidFill>
              <a:srgbClr val="282A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B3DAA2-CA7C-4657-89C3-3C977016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A2F"/>
          </a:solidFill>
          <a:ln xmlns:a="http://schemas.openxmlformats.org/drawingml/2006/main" w="0">
            <a:solidFill>
              <a:srgbClr val="282A2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F4266-7351-4857-8B77-9FAE1FB1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A2F"/>
          </a:solidFill>
          <a:ln xmlns:a="http://schemas.openxmlformats.org/drawingml/2006/main" w="0">
            <a:solidFill>
              <a:srgbClr val="282A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56AC78-BE60-4493-B426-9F5E827C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A2F"/>
          </a:solidFill>
          <a:ln xmlns:a="http://schemas.openxmlformats.org/drawingml/2006/main" w="0">
            <a:solidFill>
              <a:srgbClr val="282A2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658670-E474-46E9-873C-9E990B3A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A2F"/>
          </a:solidFill>
          <a:ln xmlns:a="http://schemas.openxmlformats.org/drawingml/2006/main" w="0">
            <a:solidFill>
              <a:srgbClr val="282A2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67BC60-19F0-4C24-A575-759B111A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A2F"/>
          </a:solidFill>
          <a:ln xmlns:a="http://schemas.openxmlformats.org/drawingml/2006/main" w="0">
            <a:solidFill>
              <a:srgbClr val="282A2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B04F4A-0FE0-448E-8DCB-9B8907B5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A2F"/>
          </a:solidFill>
          <a:ln xmlns:a="http://schemas.openxmlformats.org/drawingml/2006/main" w="0">
            <a:solidFill>
              <a:srgbClr val="282A2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2B8457-26BA-4501-95DC-5C3D917F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A2F"/>
          </a:solidFill>
          <a:ln xmlns:a="http://schemas.openxmlformats.org/drawingml/2006/main" w="0">
            <a:solidFill>
              <a:srgbClr val="282A2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C0B832-CA00-4C76-A32E-78AE676C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A2F"/>
          </a:solidFill>
          <a:ln xmlns:a="http://schemas.openxmlformats.org/drawingml/2006/main" w="0">
            <a:solidFill>
              <a:srgbClr val="282A2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EDF656-638C-4163-B2DA-827953C2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A2F"/>
          </a:solidFill>
          <a:ln xmlns:a="http://schemas.openxmlformats.org/drawingml/2006/main" w="0">
            <a:solidFill>
              <a:srgbClr val="282A2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836FAC-DD67-4790-942E-59F217EE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A2F"/>
          </a:solidFill>
          <a:ln xmlns:a="http://schemas.openxmlformats.org/drawingml/2006/main" w="0">
            <a:solidFill>
              <a:srgbClr val="282A2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49D34B-4905-4D5E-9A05-BE533A7C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86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A2F"/>
          </a:solidFill>
          <a:ln xmlns:a="http://schemas.openxmlformats.org/drawingml/2006/main" w="0">
            <a:solidFill>
              <a:srgbClr val="282A2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72947E-286E-4036-B763-3A71D004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A2F"/>
          </a:solidFill>
          <a:ln xmlns:a="http://schemas.openxmlformats.org/drawingml/2006/main" w="0">
            <a:solidFill>
              <a:srgbClr val="282A2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9592A6-4E84-4BFE-8958-3C838D05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A2F"/>
          </a:solidFill>
          <a:ln xmlns:a="http://schemas.openxmlformats.org/drawingml/2006/main" w="0">
            <a:solidFill>
              <a:srgbClr val="282A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04E98E-BE1E-4A6E-8A6B-0AC7BB83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OPENSIRI / PRIVACY BY DEFAULT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E896E7-33B3-4D63-8573-04FBBC1A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67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89CA4"/>
                </a:solidFill>
              </a:defRPr>
            </a:pPr>
            <a:r>
              <a:rPr sz="825" b="0">
                <a:solidFill>
                  <a:srgbClr val="989CA4"/>
                </a:solidFill>
              </a:rPr>
              <a:t>08  HUMAN CONTROL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E70D73-8618-4271-AEDA-8251E203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63B"/>
          </a:solidFill>
          <a:ln xmlns:a="http://schemas.openxmlformats.org/drawingml/2006/main" w="0">
            <a:solidFill>
              <a:srgbClr val="3436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AD4D06-0D35-4641-B2D2-711D659D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我需要上下文，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4C0410-A474-42AD-B852-749746CE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37C99A"/>
                </a:solidFill>
              </a:defRPr>
            </a:pPr>
            <a:r>
              <a:rPr sz="3225" b="1">
                <a:solidFill>
                  <a:srgbClr val="37C99A"/>
                </a:solidFill>
              </a:rPr>
              <a:t>不需要你的人生。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88EDC3-3809-4142-95EE-050D0B14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4095750" cy="3143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1545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2309CF-5C06-4FD1-9FCC-7036EAF7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00350"/>
            <a:ext cx="3143250" cy="2343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B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861F31-2D07-4136-B4C5-DB60DE02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286125"/>
            <a:ext cx="1866900" cy="137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solidFill>
              <a:srgbClr val="FAFAF7"/>
            </a:solidFill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f7eb47f3454bfb"/>
          <a:stretch xmlns:a="http://schemas.openxmlformats.org/drawingml/2006/main"/>
        </p:blipFill>
        <p:spPr>
          <a:xfrm xmlns:a="http://schemas.openxmlformats.org/drawingml/2006/main" flipH="0" flipV="0">
            <a:off x="2247900" y="3409950"/>
            <a:ext cx="1009650" cy="10096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C53979-C062-4C4E-8087-7C84467F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772150"/>
            <a:ext cx="1924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8A8E95"/>
                </a:solidFill>
              </a:defRPr>
            </a:pPr>
            <a:r>
              <a:rPr sz="750" b="0">
                <a:solidFill>
                  <a:srgbClr val="8A8E95"/>
                </a:solidFill>
              </a:rPr>
              <a:t>RAW SCREENSHOT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D01A9C-2677-43C8-8BD8-CA7273BA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955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7C99A"/>
                </a:solidFill>
              </a:defRPr>
            </a:pPr>
            <a:r>
              <a:rPr sz="1050" b="1">
                <a:solidFill>
                  <a:srgbClr val="37C99A"/>
                </a:solidFill>
              </a:rPr>
              <a:t>01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FA72D5-BE20-472D-9F40-1A9391E4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765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本地 OCR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CFC017-C2B7-4B3D-A758-3507A3BB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9BDC3"/>
                </a:solidFill>
              </a:defRPr>
            </a:pPr>
            <a:r>
              <a:rPr sz="1200" b="0">
                <a:solidFill>
                  <a:srgbClr val="B9BDC3"/>
                </a:solidFill>
              </a:rPr>
              <a:t>原始截图默认不上传；先在 Mac 上完成结构化与人工校对。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455323-C846-4C71-BF39-A1170FF4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48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73C"/>
          </a:solidFill>
          <a:ln xmlns:a="http://schemas.openxmlformats.org/drawingml/2006/main" w="0">
            <a:solidFill>
              <a:srgbClr val="35373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DF37D7-3296-4B92-B994-CEAEE535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004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7C99A"/>
                </a:solidFill>
              </a:defRPr>
            </a:pPr>
            <a:r>
              <a:rPr sz="1050" b="1">
                <a:solidFill>
                  <a:srgbClr val="37C99A"/>
                </a:solidFill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41208C-7D3A-4D0A-9CA9-62900C11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814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最小上下文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FCE53E-4183-4D3A-B56D-9C4727B3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9BDC3"/>
                </a:solidFill>
              </a:defRPr>
            </a:pPr>
            <a:r>
              <a:rPr sz="1200" b="0">
                <a:solidFill>
                  <a:srgbClr val="B9BDC3"/>
                </a:solidFill>
              </a:rPr>
              <a:t>不同 Agent 只拿到完成当前任务所需的字段。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F164CC-6D58-42AD-825D-B5ECADF9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529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73C"/>
          </a:solidFill>
          <a:ln xmlns:a="http://schemas.openxmlformats.org/drawingml/2006/main" w="0">
            <a:solidFill>
              <a:srgbClr val="35373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74B6FE-9C33-41A1-BEC2-661AEDCC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053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7C99A"/>
                </a:solidFill>
              </a:defRPr>
            </a:pPr>
            <a:r>
              <a:rPr sz="1050" b="1">
                <a:solidFill>
                  <a:srgbClr val="37C99A"/>
                </a:solidFill>
              </a:rPr>
              <a:t>03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E9F096-6523-4DCE-B9F1-849134C1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863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人工审批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D490C1-02AC-4DEE-8CD2-13854B4A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673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9BDC3"/>
                </a:solidFill>
              </a:defRPr>
            </a:pPr>
            <a:r>
              <a:rPr sz="1200" b="0">
                <a:solidFill>
                  <a:srgbClr val="B9BDC3"/>
                </a:solidFill>
              </a:rPr>
              <a:t>仅复制或插入；首版永不自动发送微信消息。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CC5462-6C54-4328-AC9D-7F925495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886450"/>
            <a:ext cx="565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D27"/>
          </a:solidFill>
          <a:ln xmlns:a="http://schemas.openxmlformats.org/drawingml/2006/main" w="9525">
            <a:solidFill>
              <a:srgbClr val="37C99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722883-20CD-4813-978F-4A73230D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91225"/>
            <a:ext cx="527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7C99A"/>
                </a:solidFill>
              </a:defRPr>
            </a:pPr>
            <a:r>
              <a:rPr sz="1275" b="1">
                <a:solidFill>
                  <a:srgbClr val="37C99A"/>
                </a:solidFill>
              </a:rPr>
              <a:t>我不会替你发送，所以也不会替你社死。</a:t>
            </a:r>
          </a:p>
        </p:txBody>
      </p:sp>
    </p:spTree>
    <p:extLst>
      <p:ext uri="{BB962C8B-B14F-4D97-AF65-F5344CB8AC3E}">
        <p14:creationId xmlns:p14="http://schemas.microsoft.com/office/powerpoint/2010/main" val="21312621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1C4B246-DA2E-417F-9709-686FFAB3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CD9FD9-E347-461A-A42D-0D207CE3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4D69AE-6546-4575-B793-9257BB19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298878-8D3C-4EBA-8A08-DCAF1FB4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45A55E-CF07-4303-8D34-5EBB4D00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37B58B-CB5A-4BD4-8BF6-166EE8E5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A26B5-54FC-474E-97B3-2A13C292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7C3C47-F5E9-49F4-BEB4-7DF0F186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DF9758-E143-4174-8FF7-8AF7D6B2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3CA6BC-F390-46B8-B7B7-0FA34E75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110F33-FB82-4ADD-83E8-DB81D1B4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E02D49-5592-4AF0-8404-98892EE2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35AB8B-EDBE-4981-8293-EF42770A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86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96665B-826D-431D-95B8-9B8B1044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0872A8-9E96-4E28-9F91-2C76F4AE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3F9FB8-3FD2-409E-995B-0C4DF969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01114"/>
                </a:solidFill>
              </a:defRPr>
            </a:pPr>
            <a:r>
              <a:rPr sz="825" b="1">
                <a:solidFill>
                  <a:srgbClr val="101114"/>
                </a:solidFill>
              </a:rPr>
              <a:t>OPENSIRI / AGENT INFRA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F16175-C51C-466A-9CF3-0050078E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67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2656A"/>
                </a:solidFill>
              </a:defRPr>
            </a:pPr>
            <a:r>
              <a:rPr sz="825" b="0">
                <a:solidFill>
                  <a:srgbClr val="62656A"/>
                </a:solidFill>
              </a:rPr>
              <a:t>09  IMPLEMENTATION PATH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7F9CA0-1E8A-4A69-AC39-FDC6986A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0">
            <a:solidFill>
              <a:srgbClr val="D9DC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90C2C3-5D1B-48CC-9FAE-567DE2C9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114"/>
                </a:solidFill>
              </a:defRPr>
            </a:pPr>
            <a:r>
              <a:rPr sz="3225" b="1">
                <a:solidFill>
                  <a:srgbClr val="101114"/>
                </a:solidFill>
              </a:rPr>
              <a:t>复赛前只交付一条完整主链路，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A40D0E-5FE5-4C07-A60C-6FDEC2F9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2F6BFF"/>
                </a:solidFill>
              </a:defRPr>
            </a:pPr>
            <a:r>
              <a:rPr sz="3225" b="1">
                <a:solidFill>
                  <a:srgbClr val="2F6BFF"/>
                </a:solidFill>
              </a:rPr>
              <a:t>两周把证据做实。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F9C713-6CA9-41E2-975E-2F349567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2656A"/>
                </a:solidFill>
              </a:defRPr>
            </a:pPr>
            <a:r>
              <a:rPr sz="1425" b="0">
                <a:solidFill>
                  <a:srgbClr val="62656A"/>
                </a:solidFill>
              </a:rPr>
              <a:t>先稳定合同，再做解析、Matrix、窗口、AgentTeams 包；不同时扩张三套 UI。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AE20A8-3D2C-43BB-BCD0-B58547F2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10420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1011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AF34ED-C619-4544-8F51-F14EDDF8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21526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4BB560-9F4D-4DEF-9238-1B2D17E3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847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BFF"/>
                </a:solidFill>
              </a:defRPr>
            </a:pPr>
            <a:r>
              <a:rPr sz="900" b="1">
                <a:solidFill>
                  <a:srgbClr val="2F6BFF"/>
                </a:solidFill>
              </a:rPr>
              <a:t>D1–2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CEE97F-92BC-4214-944D-8EEA93B5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114"/>
                </a:solidFill>
              </a:defRPr>
            </a:pPr>
            <a:r>
              <a:rPr sz="1725" b="1">
                <a:solidFill>
                  <a:srgbClr val="101114"/>
                </a:solidFill>
              </a:rPr>
              <a:t>合同 + OCR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40C8F8-E655-46ED-AEB6-37FF1B77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656A"/>
                </a:solidFill>
              </a:defRPr>
            </a:pPr>
            <a:r>
              <a:rPr sz="1200" b="0">
                <a:solidFill>
                  <a:srgbClr val="62656A"/>
                </a:solidFill>
              </a:rPr>
              <a:t>Schema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2656A"/>
                </a:solidFill>
              </a:defRPr>
            </a:pPr>
            <a:r>
              <a:rPr sz="1200" b="0">
                <a:solidFill>
                  <a:srgbClr val="62656A"/>
                </a:solidFill>
              </a:rPr>
              <a:t>微信气泡解析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00F29B-6D10-41CC-9DF9-AC922349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591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FAFAF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D6903C-35C3-4318-B391-DD93325C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57500"/>
            <a:ext cx="25527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11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7751A5-254A-4BF7-9D5C-26373369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28950"/>
            <a:ext cx="2247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1114"/>
                </a:solidFill>
              </a:defRPr>
            </a:pPr>
            <a:r>
              <a:rPr sz="900" b="1">
                <a:solidFill>
                  <a:srgbClr val="101114"/>
                </a:solidFill>
              </a:rPr>
              <a:t>D3–5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8F824B-D49B-49D1-89B9-8AF7B06D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0995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114"/>
                </a:solidFill>
              </a:defRPr>
            </a:pPr>
            <a:r>
              <a:rPr sz="1725" b="1">
                <a:solidFill>
                  <a:srgbClr val="101114"/>
                </a:solidFill>
              </a:rPr>
              <a:t>Matrix 闭环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3EA310-A960-4D14-98E9-98B93EA4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57625"/>
            <a:ext cx="224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656A"/>
                </a:solidFill>
              </a:defRPr>
            </a:pPr>
            <a:r>
              <a:rPr sz="1200" b="0">
                <a:solidFill>
                  <a:srgbClr val="62656A"/>
                </a:solidFill>
              </a:rPr>
              <a:t>任务事件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2656A"/>
                </a:solidFill>
              </a:defRPr>
            </a:pPr>
            <a:r>
              <a:rPr sz="1200" b="0">
                <a:solidFill>
                  <a:srgbClr val="62656A"/>
                </a:solidFill>
              </a:rPr>
              <a:t>状态与恢复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D951D8-4C18-4EDF-8371-7DC5203D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591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FAFAF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8C8A15-1C02-41C7-917C-957822B2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81250"/>
            <a:ext cx="2476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E9C3D2-7D6E-43B6-896E-9E2B6AE0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55270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BFF"/>
                </a:solidFill>
              </a:defRPr>
            </a:pPr>
            <a:r>
              <a:rPr sz="900" b="1">
                <a:solidFill>
                  <a:srgbClr val="2F6BFF"/>
                </a:solidFill>
              </a:rPr>
              <a:t>D6–8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7BDC99-56B7-4FE0-9574-41093E87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9337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114"/>
                </a:solidFill>
              </a:defRPr>
            </a:pPr>
            <a:r>
              <a:rPr sz="1725" b="1">
                <a:solidFill>
                  <a:srgbClr val="101114"/>
                </a:solidFill>
              </a:rPr>
              <a:t>OpenSiri 窗口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0C833B-65B8-42EB-AB1E-055947FE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81375"/>
            <a:ext cx="2171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656A"/>
                </a:solidFill>
              </a:defRPr>
            </a:pPr>
            <a:r>
              <a:rPr sz="1200" b="0">
                <a:solidFill>
                  <a:srgbClr val="62656A"/>
                </a:solidFill>
              </a:rPr>
              <a:t>校对 · 进度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2656A"/>
                </a:solidFill>
              </a:defRPr>
            </a:pPr>
            <a:r>
              <a:rPr sz="1200" b="0">
                <a:solidFill>
                  <a:srgbClr val="62656A"/>
                </a:solidFill>
              </a:rPr>
              <a:t>三候选 · 审批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A1F6C6-E221-4F7E-854F-9B746F82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591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FAFAF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8FC621-8816-44F7-AE7A-0A0440A2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57500"/>
            <a:ext cx="23622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111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B29703-BF24-4F6D-A900-90432EEF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28950"/>
            <a:ext cx="2057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01114"/>
                </a:solidFill>
              </a:defRPr>
            </a:pPr>
            <a:r>
              <a:rPr sz="900" b="1">
                <a:solidFill>
                  <a:srgbClr val="101114"/>
                </a:solidFill>
              </a:rPr>
              <a:t>D9–11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B79348F-36D0-481F-9C74-09112CEC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099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114"/>
                </a:solidFill>
              </a:defRPr>
            </a:pPr>
            <a:r>
              <a:rPr sz="1725" b="1">
                <a:solidFill>
                  <a:srgbClr val="101114"/>
                </a:solidFill>
              </a:rPr>
              <a:t>AgentTeams 包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4ADE1D-C83B-4D01-9E57-C4A7FBFE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57625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656A"/>
                </a:solidFill>
              </a:defRPr>
            </a:pPr>
            <a:r>
              <a:rPr sz="1200" b="0">
                <a:solidFill>
                  <a:srgbClr val="62656A"/>
                </a:solidFill>
              </a:rPr>
              <a:t>四 Worker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2656A"/>
                </a:solidFill>
              </a:defRPr>
            </a:pPr>
            <a:r>
              <a:rPr sz="1200" b="0">
                <a:solidFill>
                  <a:srgbClr val="62656A"/>
                </a:solidFill>
              </a:rPr>
              <a:t>三个 Product Skill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5595101-7220-487C-BE3F-3D0D8F8D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591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FAFAF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CBB72F-7847-479D-8068-3A5441AA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381250"/>
            <a:ext cx="12001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7C99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0B0078-0ADE-40E4-8925-E0326A15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5527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7C99A"/>
                </a:solidFill>
              </a:defRPr>
            </a:pPr>
            <a:r>
              <a:rPr sz="900" b="1">
                <a:solidFill>
                  <a:srgbClr val="37C99A"/>
                </a:solidFill>
              </a:rPr>
              <a:t>D12–14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0339E2E-06EE-41BD-9549-784C1CA7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9337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114"/>
                </a:solidFill>
              </a:defRPr>
            </a:pPr>
            <a:r>
              <a:rPr sz="1500" b="1">
                <a:solidFill>
                  <a:srgbClr val="101114"/>
                </a:solidFill>
              </a:rPr>
              <a:t>证据 + Demo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C1706F3-BBF1-4368-BA79-9CC30A2A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381375"/>
            <a:ext cx="89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2656A"/>
                </a:solidFill>
              </a:defRPr>
            </a:pPr>
            <a:r>
              <a:rPr sz="1050" b="0">
                <a:solidFill>
                  <a:srgbClr val="62656A"/>
                </a:solidFill>
              </a:rPr>
              <a:t>30 条脱敏任务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62656A"/>
                </a:solidFill>
              </a:defRPr>
            </a:pPr>
            <a:r>
              <a:rPr sz="1050" b="0">
                <a:solidFill>
                  <a:srgbClr val="62656A"/>
                </a:solidFill>
              </a:rPr>
              <a:t>P50 / P95 / 成功率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E46AE8E-139C-4629-9051-DD1B3C77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4591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C99A"/>
          </a:solidFill>
          <a:ln xmlns:a="http://schemas.openxmlformats.org/drawingml/2006/main" w="0">
            <a:solidFill>
              <a:srgbClr val="FAFAF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9149866-E51E-45F5-9A14-FCB6ADD7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2F6BFF"/>
                </a:solidFill>
              </a:defRPr>
            </a:pPr>
            <a:r>
              <a:rPr sz="825" b="1">
                <a:solidFill>
                  <a:srgbClr val="2F6BFF"/>
                </a:solidFill>
              </a:rPr>
              <a:t>SCOPE GATE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CBB7BEC-2A10-446B-8A55-C74245C7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7721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114"/>
                </a:solidFill>
              </a:defRPr>
            </a:pPr>
            <a:r>
              <a:rPr sz="1275" b="1">
                <a:solidFill>
                  <a:srgbClr val="101114"/>
                </a:solidFill>
              </a:rPr>
              <a:t>如延期：先砍另外两个 Skill 的专用 UI，再砍高级记忆；不砍四 Agent、验证、审批与证据。</a:t>
            </a:r>
          </a:p>
        </p:txBody>
      </p:sp>
    </p:spTree>
    <p:extLst>
      <p:ext uri="{BB962C8B-B14F-4D97-AF65-F5344CB8AC3E}">
        <p14:creationId xmlns:p14="http://schemas.microsoft.com/office/powerpoint/2010/main" val="3956881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37EB2B-A623-4CC4-AFE8-93D94EEA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5B8B8A-E78E-4900-B3F5-934BAB82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366B1A-C63D-440E-8BD0-5B57B206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350D17-02C5-463F-A306-E1DEAF34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F4F74F-09CA-469A-8583-92BF197B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268685-2951-477D-91B3-95694B5B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588A6B-5881-4A78-81A7-74F9B26D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12B5E7-B207-405C-80CC-A485D483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7C3FE3-9965-4A65-8CF9-16AC1CF3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72B02D-5F2F-4E8B-B14C-F2CB0F89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40DD0F-F4FC-4528-99D8-9990DACD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893032-A051-4F49-866E-7B996C57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8B83C6-93A4-4B7F-911E-C62273CF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86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68D874-D3CC-415E-9446-27E990EF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7041F8-5E51-485C-ADDA-4C406456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00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0">
            <a:solidFill>
              <a:srgbClr val="ECEE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CF0EF0-B993-4D0F-A9E3-51F8DE9B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01114"/>
                </a:solidFill>
              </a:defRPr>
            </a:pPr>
            <a:r>
              <a:rPr sz="825" b="1">
                <a:solidFill>
                  <a:srgbClr val="101114"/>
                </a:solidFill>
              </a:rPr>
              <a:t>OPENSIRI / AGENT INFRA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9A9FF4-54CC-4321-AFE3-5280FD6D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67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2656A"/>
                </a:solidFill>
              </a:defRPr>
            </a:pPr>
            <a:r>
              <a:rPr sz="825" b="0">
                <a:solidFill>
                  <a:srgbClr val="62656A"/>
                </a:solidFill>
              </a:rPr>
              <a:t>10  THE PROMISE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B183D8-BD19-4A53-93F6-07322FFF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0">
            <a:solidFill>
              <a:srgbClr val="D9DC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BF219F-CBDB-481D-AC95-F30E7A19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85875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101114"/>
                </a:solidFill>
              </a:defRPr>
            </a:pPr>
            <a:r>
              <a:rPr sz="3900" b="1">
                <a:solidFill>
                  <a:srgbClr val="101114"/>
                </a:solidFill>
              </a:rPr>
              <a:t>这不是一个会替你说话的机器人。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922328-2202-478B-A2A1-BBEBCFBF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24075"/>
            <a:ext cx="1078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2F6BFF"/>
                </a:solidFill>
              </a:defRPr>
            </a:pPr>
            <a:r>
              <a:rPr sz="3300" b="1">
                <a:solidFill>
                  <a:srgbClr val="2F6BFF"/>
                </a:solidFill>
              </a:rPr>
              <a:t>是一支帮你想清楚、把风险说明白，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879641-DADC-4F8E-A428-B44A2887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14625"/>
            <a:ext cx="1078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2F6BFF"/>
                </a:solidFill>
              </a:defRPr>
            </a:pPr>
            <a:r>
              <a:rPr sz="3300" b="1">
                <a:solidFill>
                  <a:srgbClr val="2F6BFF"/>
                </a:solidFill>
              </a:rPr>
              <a:t>最后仍把决定交还给你的 Agent 团队。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8DA8D9-1F16-4287-93FE-1C47170D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81425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11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E62502-206E-46A4-B27F-53CD3F59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05765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114"/>
                </a:solidFill>
              </a:defRPr>
            </a:pPr>
            <a:r>
              <a:rPr sz="1650" b="1">
                <a:solidFill>
                  <a:srgbClr val="101114"/>
                </a:solidFill>
              </a:rPr>
              <a:t>截一张图   →   让团队商量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DBB505-7BF4-4EC3-AA60-34ADC4C4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0"/>
            <a:ext cx="1078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62656A"/>
                </a:solidFill>
              </a:defRPr>
            </a:pPr>
            <a:r>
              <a:rPr sz="975" b="1">
                <a:solidFill>
                  <a:srgbClr val="62656A"/>
                </a:solidFill>
              </a:rPr>
              <a:t>OPEN SOURCE · MACOS · AGENTTEAMS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37F26F-AB2E-427A-8F34-28EDC4F9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34050"/>
            <a:ext cx="10782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101114"/>
                </a:solidFill>
              </a:defRPr>
            </a:pPr>
            <a:r>
              <a:rPr sz="3000" b="1">
                <a:solidFill>
                  <a:srgbClr val="101114"/>
                </a:solidFill>
              </a:rPr>
              <a:t>OpenSiri</a:t>
            </a:r>
          </a:p>
        </p:txBody>
      </p:sp>
    </p:spTree>
    <p:extLst>
      <p:ext uri="{BB962C8B-B14F-4D97-AF65-F5344CB8AC3E}">
        <p14:creationId xmlns:p14="http://schemas.microsoft.com/office/powerpoint/2010/main" val="5337771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2026-08-16T13:35:42.1100000Z</dcterms:created>
  <dcterms:modified xsi:type="dcterms:W3CDTF">2026-08-16T13:35:42.1110000Z</dcterms:modified>
</coreProperties>
</file>