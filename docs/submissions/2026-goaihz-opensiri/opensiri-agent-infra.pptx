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324bce77e34f13" /><Relationship Type="http://schemas.openxmlformats.org/officeDocument/2006/relationships/extended-properties" Target="/docProps/app.xml" Id="Rd77538f741974595" /><Relationship Type="http://schemas.openxmlformats.org/officeDocument/2006/relationships/officeDocument" Target="/ppt/presentation.xml" Id="Re29e4ef2accf47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27f1abdef94028"/>
  </p:sldMasterIdLst>
  <p:notesMasterIdLst>
    <p:notesMasterId xmlns:r="http://schemas.openxmlformats.org/officeDocument/2006/relationships" r:id="R8366600598b94263"/>
  </p:notesMasterIdLst>
  <p:sldIdLst>
    <p:sldId xmlns:r="http://schemas.openxmlformats.org/officeDocument/2006/relationships" id="256" r:id="R63726564689c4477"/>
    <p:sldId xmlns:r="http://schemas.openxmlformats.org/officeDocument/2006/relationships" id="257" r:id="Rc1d64fab739f41bc"/>
    <p:sldId xmlns:r="http://schemas.openxmlformats.org/officeDocument/2006/relationships" id="258" r:id="R9261676d58b44227"/>
    <p:sldId xmlns:r="http://schemas.openxmlformats.org/officeDocument/2006/relationships" id="259" r:id="R5fb04ce2822d4d18"/>
    <p:sldId xmlns:r="http://schemas.openxmlformats.org/officeDocument/2006/relationships" id="260" r:id="Rd714d6f8d6884628"/>
    <p:sldId xmlns:r="http://schemas.openxmlformats.org/officeDocument/2006/relationships" id="261" r:id="Rfd94060040c74467"/>
    <p:sldId xmlns:r="http://schemas.openxmlformats.org/officeDocument/2006/relationships" id="262" r:id="Ra2f72a77e80b4332"/>
    <p:sldId xmlns:r="http://schemas.openxmlformats.org/officeDocument/2006/relationships" id="263" r:id="R8a6f2f325c384aad"/>
    <p:sldId xmlns:r="http://schemas.openxmlformats.org/officeDocument/2006/relationships" id="264" r:id="R07b86be635ff4fd7"/>
    <p:sldId xmlns:r="http://schemas.openxmlformats.org/officeDocument/2006/relationships" id="265" r:id="Rbe3a5291cfbc43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0fb723d8cb4a4f" /><Relationship Type="http://schemas.openxmlformats.org/officeDocument/2006/relationships/slideMaster" Target="/ppt/slideMasters/slideMaster1.xml" Id="R2727f1abdef94028" /><Relationship Type="http://schemas.openxmlformats.org/officeDocument/2006/relationships/notesMaster" Target="/ppt/notesMasters/notesMaster1.xml" Id="R8366600598b94263" /><Relationship Type="http://schemas.openxmlformats.org/officeDocument/2006/relationships/presProps" Target="/ppt/presProps.xml" Id="R8fad0f7c6c724ac6" /><Relationship Type="http://schemas.openxmlformats.org/officeDocument/2006/relationships/tableStyles" Target="/ppt/tableStyles.xml" Id="R0b95e08b9798424e" /><Relationship Type="http://schemas.openxmlformats.org/officeDocument/2006/relationships/slide" Target="/ppt/slides/slide1.xml" Id="R63726564689c4477" /><Relationship Type="http://schemas.openxmlformats.org/officeDocument/2006/relationships/slide" Target="/ppt/slides/slide2.xml" Id="Rc1d64fab739f41bc" /><Relationship Type="http://schemas.openxmlformats.org/officeDocument/2006/relationships/slide" Target="/ppt/slides/slide3.xml" Id="R9261676d58b44227" /><Relationship Type="http://schemas.openxmlformats.org/officeDocument/2006/relationships/slide" Target="/ppt/slides/slide4.xml" Id="R5fb04ce2822d4d18" /><Relationship Type="http://schemas.openxmlformats.org/officeDocument/2006/relationships/slide" Target="/ppt/slides/slide5.xml" Id="Rd714d6f8d6884628" /><Relationship Type="http://schemas.openxmlformats.org/officeDocument/2006/relationships/slide" Target="/ppt/slides/slide6.xml" Id="Rfd94060040c74467" /><Relationship Type="http://schemas.openxmlformats.org/officeDocument/2006/relationships/slide" Target="/ppt/slides/slide7.xml" Id="Ra2f72a77e80b4332" /><Relationship Type="http://schemas.openxmlformats.org/officeDocument/2006/relationships/slide" Target="/ppt/slides/slide8.xml" Id="R8a6f2f325c384aad" /><Relationship Type="http://schemas.openxmlformats.org/officeDocument/2006/relationships/slide" Target="/ppt/slides/slide9.xml" Id="R07b86be635ff4fd7" /><Relationship Type="http://schemas.openxmlformats.org/officeDocument/2006/relationships/slide" Target="/ppt/slides/slide10.xml" Id="Rbe3a5291cfbc43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70ac44225944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cfc9c82a6443be" /><Relationship Type="http://schemas.openxmlformats.org/officeDocument/2006/relationships/notesMaster" Target="/ppt/notesMasters/notesMaster1.xml" Id="R2e1410faae6a4d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7e031695d643ad" /><Relationship Type="http://schemas.openxmlformats.org/officeDocument/2006/relationships/notesMaster" Target="/ppt/notesMasters/notesMaster1.xml" Id="Raa888a26b54840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aea24ce3a542a0" /><Relationship Type="http://schemas.openxmlformats.org/officeDocument/2006/relationships/notesMaster" Target="/ppt/notesMasters/notesMaster1.xml" Id="Read8bd0a3dd844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bec2e7de8e4512" /><Relationship Type="http://schemas.openxmlformats.org/officeDocument/2006/relationships/notesMaster" Target="/ppt/notesMasters/notesMaster1.xml" Id="Rcb264e54a10e4a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125b2f78b448f4" /><Relationship Type="http://schemas.openxmlformats.org/officeDocument/2006/relationships/notesMaster" Target="/ppt/notesMasters/notesMaster1.xml" Id="R21df8fdeef4c48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6998cda1de4440" /><Relationship Type="http://schemas.openxmlformats.org/officeDocument/2006/relationships/notesMaster" Target="/ppt/notesMasters/notesMaster1.xml" Id="R9e8e532251a64a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7b7a06b588480f" /><Relationship Type="http://schemas.openxmlformats.org/officeDocument/2006/relationships/notesMaster" Target="/ppt/notesMasters/notesMaster1.xml" Id="Raae971175cbe42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72ea9cf7734bb1" /><Relationship Type="http://schemas.openxmlformats.org/officeDocument/2006/relationships/notesMaster" Target="/ppt/notesMasters/notesMaster1.xml" Id="Rf99216494eb647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0e6400555f4d7d" /><Relationship Type="http://schemas.openxmlformats.org/officeDocument/2006/relationships/notesMaster" Target="/ppt/notesMasters/notesMaster1.xml" Id="R342bbf729dc641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8f6721d86e4db0" /><Relationship Type="http://schemas.openxmlformats.org/officeDocument/2006/relationships/notesMaster" Target="/ppt/notesMasters/notesMaster1.xml" Id="R151170fab6944d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用一句话建立产品记忆：截一张图，不是调用一个聊天机器人，而是调度一支 Agent 团队。标题视觉为本项目原创生成。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direction requested by user; reference: https://openmind.com/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先讲清楚：产品价值不是更花哨的文案，而是把截图、用户上下文、策略与验证组织成一个过程。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project design and generated visual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按演示顺序讲完整闭环。重点是每个阶段都可观察、可纠正，不把错误藏在一个 loading 状态里。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design: docs/superpowers/specs/2026-08-16-opensiri-agentteams-design.md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强调职能差异与制衡：Manager 和 Team Leader 不计作凑数的功能 Agent，四个 Worker 本身已超过赛道下限。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AgentTeams repository: https://github.com/agentscope-ai/AgentTeams/</a:t>
            </a:r>
          </a:p>
          <a:p xmlns:a="http://schemas.openxmlformats.org/drawingml/2006/main">
            <a:r>
              <a:t>- GOAI Agent Infra track: https://goaihz.com/tracks?track=infra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评审要求内置三个 Skill。范围控制方式是主 Skill 完整闭环，其余两个共享客户端—AgentTeams 契约和验证机制，避免三条半成品。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GOAI Agent Infra track: https://goaihz.com/tracks?track=infra</a:t>
            </a:r>
          </a:p>
          <a:p xmlns:a="http://schemas.openxmlformats.org/drawingml/2006/main">
            <a:r>
              <a:t>- Internal OpenSiri design 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可行性来自清晰边界：客户端轻、协作后端独立。两侧只通过版本化 Matrix 事件耦合。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Easydict repository: https://github.com/tisfeng/Easydict</a:t>
            </a:r>
          </a:p>
          <a:p xmlns:a="http://schemas.openxmlformats.org/drawingml/2006/main">
            <a:r>
              <a:t>- AgentTeams repository: https://github.com/agentscope-ai/AgentTeams/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这页对应赛道看重的完整闭环：上下文传递、工具调用、验证证据、人工审批、失败处理与回滚。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GOAI Agent Infra track: https://goaihz.com/tracks?track=infra</a:t>
            </a:r>
          </a:p>
          <a:p xmlns:a="http://schemas.openxmlformats.org/drawingml/2006/main">
            <a:r>
              <a:t>- Internal implementation plan: docs/exec-plans/active/2026-08-16-opensiri-agentteams.md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隐私边界是产品机制，不是免责声明：本地 OCR、按任务最小化上下文、Keychain 凭证、人工最终批准。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OpenSiri design specification</a:t>
            </a:r>
          </a:p>
          <a:p xmlns:a="http://schemas.openxmlformats.org/drawingml/2006/main">
            <a:r>
              <a:t>- Apple platform security primitives are used through existing macOS APIs.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把实现顺序和砍范围原则讲清楚，证明复赛范围可控。完整计划已拆成 15 个可验证 Task。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 plan: docs/exec-plans/active/2026-08-16-opensiri-agentteams.md</a:t>
            </a:r>
          </a:p>
          <a:p xmlns:a="http://schemas.openxmlformats.org/drawingml/2006/main">
            <a:r>
              <a:t>- GOAI Agent Infra schedule: https://goaihz.com/tracks?track=infra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回到开场：OpenSiri 的差异不是‘更会写’，而是把上下文理解、策略生成、独立验证和人工决定做成一条可信基础设施。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design and implementation plan; no external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5ad7376ca49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cc122b762d4b26" /><Relationship Type="http://schemas.openxmlformats.org/officeDocument/2006/relationships/slideLayout" Target="/ppt/slideLayouts/slideLayout1.xml" Id="R6872a5ca12d04e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72a5ca12d04e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0daab4d2d4fac" /><Relationship Type="http://schemas.openxmlformats.org/officeDocument/2006/relationships/image" Target="/ppt/media/image.png" Id="Rffb84e4da3f54fad" /><Relationship Type="http://schemas.openxmlformats.org/officeDocument/2006/relationships/notesSlide" Target="/ppt/notesSlides/notesSlide1.xml" Id="R9955a16426894c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0ad4f503e4048" /><Relationship Type="http://schemas.openxmlformats.org/officeDocument/2006/relationships/notesSlide" Target="/ppt/notesSlides/notesSlide2.xml" Id="R6f144390e0874c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6f09d6c994f9e" /><Relationship Type="http://schemas.openxmlformats.org/officeDocument/2006/relationships/notesSlide" Target="/ppt/notesSlides/notesSlide3.xml" Id="R0f204a78f51b45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eb40ce3d143a1" /><Relationship Type="http://schemas.openxmlformats.org/officeDocument/2006/relationships/notesSlide" Target="/ppt/notesSlides/notesSlide4.xml" Id="R3dd1c9bde2004e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95c3f627645f4" /><Relationship Type="http://schemas.openxmlformats.org/officeDocument/2006/relationships/notesSlide" Target="/ppt/notesSlides/notesSlide5.xml" Id="R97fe5ccdffa04a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8d9a0528946c0" /><Relationship Type="http://schemas.openxmlformats.org/officeDocument/2006/relationships/notesSlide" Target="/ppt/notesSlides/notesSlide6.xml" Id="R33ae21b9e21a43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28232cbd142a8" /><Relationship Type="http://schemas.openxmlformats.org/officeDocument/2006/relationships/notesSlide" Target="/ppt/notesSlides/notesSlide7.xml" Id="Rf6e8b88c42cd4d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c6e867b4f4a1f" /><Relationship Type="http://schemas.openxmlformats.org/officeDocument/2006/relationships/image" Target="/ppt/media/image2.png" Id="R9dab4b2283144589" /><Relationship Type="http://schemas.openxmlformats.org/officeDocument/2006/relationships/notesSlide" Target="/ppt/notesSlides/notesSlide8.xml" Id="Ra7680fa9c3c448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fce5118814845" /><Relationship Type="http://schemas.openxmlformats.org/officeDocument/2006/relationships/notesSlide" Target="/ppt/notesSlides/notesSlide9.xml" Id="Rcd5ccce324a944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48d33a7ee4e70" /><Relationship Type="http://schemas.openxmlformats.org/officeDocument/2006/relationships/notesSlide" Target="/ppt/notesSlides/notesSlide10.xml" Id="R170b7e3fb57241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84e4da3f54fad"/>
          <a:stretch xmlns:a="http://schemas.openxmlformats.org/drawingml/2006/main"/>
        </p:blipFill>
        <p:spPr>
          <a:xfrm xmlns:a="http://schemas.openxmlformats.org/drawingml/2006/main">
            <a:off x="1509" y="228600"/>
            <a:ext cx="12188982" cy="6400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647F1-2FF3-4E06-97E6-11EA2A92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249D8-A4C6-4639-AD19-8B35BD82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GOAI WORLD AI OPEN-SOURCE COMPETITION · AGENT INFRA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545BA-8644-4E18-A5DC-790DC3E0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770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1579510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91765E-EE0A-4BFD-A8B0-859971D7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C50E3-C8EA-4E90-826A-B9704E18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03640-F822-415F-9188-D73ABBC3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D2716-5E61-4CA4-9317-FB0F489F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D9CEC-3A54-43E4-A8F3-9641B749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2A1C0-9E23-45F9-9CA1-25A074D5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3504E-EF9D-4450-B64C-F44A9A6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6CB17-45C5-4163-B85E-037F5685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EB454-7552-4D27-8F4C-A319F8FF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AC37C-AD85-4CA3-BA63-90E53497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8F00D-7AB5-4D3A-B1D7-16F2C0EC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C2BAF-32C3-498A-8C62-085C07F0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CEAC2-00FB-4400-8FFB-AA084F07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508D9-B673-4A13-B16B-E021EEC7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126F6-1263-4CCE-BD55-54DDD25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99C98-2824-4BD6-ADAE-CC519EAF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114"/>
                </a:solidFill>
              </a:defRPr>
            </a:pPr>
            <a:r>
              <a:rPr sz="825" b="1">
                <a:solidFill>
                  <a:srgbClr val="101114"/>
                </a:solidFill>
              </a:rPr>
              <a:t>OPENSIRI / AGENT INFRA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22C8F-1E0E-4722-BAC4-20552CAD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02  USER TENSION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3B54F-6560-44BC-B92C-5950F4CC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1A5F0-47BA-41EF-B18D-5CF1C022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114"/>
                </a:solidFill>
              </a:defRPr>
            </a:pPr>
            <a:r>
              <a:rPr sz="3225" b="1">
                <a:solidFill>
                  <a:srgbClr val="101114"/>
                </a:solidFill>
              </a:rPr>
              <a:t>用户不是缺一句“高情商回复”，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549D1-2E36-4F5B-A9A3-00E84F0F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F6BFF"/>
                </a:solidFill>
              </a:defRPr>
            </a:pPr>
            <a:r>
              <a:rPr sz="3225" b="1">
                <a:solidFill>
                  <a:srgbClr val="2F6BFF"/>
                </a:solidFill>
              </a:rPr>
              <a:t>而是缺少理解上下文的协作过程。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55750-F5E8-4058-8BAA-E71E332B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52197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27B46-5143-4A28-80F6-4F8EFED0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2F6BFF"/>
                </a:solidFill>
              </a:defRPr>
            </a:pPr>
            <a:r>
              <a:rPr sz="5400" b="1">
                <a:solidFill>
                  <a:srgbClr val="2F6BFF"/>
                </a:solidFill>
              </a:rPr>
              <a:t>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9842FC-5A63-4BE9-B986-387467EF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400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114"/>
                </a:solidFill>
              </a:defRPr>
            </a:pPr>
            <a:r>
              <a:rPr sz="2625" b="1">
                <a:solidFill>
                  <a:srgbClr val="101114"/>
                </a:solidFill>
              </a:rPr>
              <a:t>他这句话是什么意思？</a:t>
            </a:r>
          </a:p>
          <a:p xmlns:a="http://schemas.openxmlformats.org/drawingml/2006/main">
            <a:pPr algn="l">
              <a:defRPr sz="2625" b="1">
                <a:solidFill>
                  <a:srgbClr val="101114"/>
                </a:solidFill>
              </a:defRPr>
            </a:pPr>
            <a:r>
              <a:rPr sz="2625" b="1">
                <a:solidFill>
                  <a:srgbClr val="101114"/>
                </a:solidFill>
              </a:rPr>
              <a:t>我要不要现在答应？</a:t>
            </a:r>
          </a:p>
          <a:p xmlns:a="http://schemas.openxmlformats.org/drawingml/2006/main">
            <a:pPr algn="l">
              <a:defRPr sz="2625" b="1">
                <a:solidFill>
                  <a:srgbClr val="101114"/>
                </a:solidFill>
              </a:defRPr>
            </a:pPr>
            <a:r>
              <a:rPr sz="2625" b="1">
                <a:solidFill>
                  <a:srgbClr val="101114"/>
                </a:solidFill>
              </a:rPr>
              <a:t>怎么回才像我？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5EF4A7-0AA8-4596-BB09-91AB74D9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56A"/>
                </a:solidFill>
              </a:defRPr>
            </a:pPr>
            <a:r>
              <a:rPr sz="1350" b="0">
                <a:solidFill>
                  <a:srgbClr val="62656A"/>
                </a:solidFill>
              </a:rPr>
              <a:t>一张微信截图里同时存在关系、语气、承诺、时机与隐私。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56A62B-0342-42C0-B8D4-DAA43C3B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2579C2-1557-4C03-A64A-E26E25DF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4"/>
                </a:solidFill>
              </a:defRPr>
            </a:pPr>
            <a:r>
              <a:rPr sz="1800" b="1">
                <a:solidFill>
                  <a:srgbClr val="101114"/>
                </a:solidFill>
              </a:rPr>
              <a:t>截图是非结构化输入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03C71F-C7EF-426B-9486-FBD116EE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813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OCR 文字、气泡顺序和说话人必须先变成可校对的对话。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A45EEF-5082-4011-8DB8-573525C1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90900"/>
            <a:ext cx="474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CC45C6-87C6-42E9-9326-3C52A4C9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212A7E-B3B8-47B2-8DD3-BCD3D232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24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4"/>
                </a:solidFill>
              </a:defRPr>
            </a:pPr>
            <a:r>
              <a:rPr sz="1800" b="1">
                <a:solidFill>
                  <a:srgbClr val="101114"/>
                </a:solidFill>
              </a:rPr>
              <a:t>回复依赖“我是谁”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13A940-E432-4288-B72A-61CEB204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243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同一句话，对朋友、客户和家人不应该只有一个万能答案。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647CAB-FC36-4002-9F12-25EAFE15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33900"/>
            <a:ext cx="474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90C39F-7CF9-46A1-8811-C9211819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5E3880-1753-4551-9DBC-0E58294B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67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4"/>
                </a:solidFill>
              </a:defRPr>
            </a:pPr>
            <a:r>
              <a:rPr sz="1800" b="1">
                <a:solidFill>
                  <a:srgbClr val="101114"/>
                </a:solidFill>
              </a:rPr>
              <a:t>生成不等于可以发送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F4F3F9-D364-4056-86CA-4C45EF9D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673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事实、语气、隐私与过度承诺需要独立验证。</a:t>
            </a:r>
          </a:p>
        </p:txBody>
      </p:sp>
    </p:spTree>
    <p:extLst>
      <p:ext uri="{BB962C8B-B14F-4D97-AF65-F5344CB8AC3E}">
        <p14:creationId xmlns:p14="http://schemas.microsoft.com/office/powerpoint/2010/main" val="407228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C9213B-7B0C-4D24-9235-0E179A38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114"/>
                </a:solidFill>
              </a:defRPr>
            </a:pPr>
            <a:r>
              <a:rPr sz="825" b="1">
                <a:solidFill>
                  <a:srgbClr val="101114"/>
                </a:solidFill>
              </a:rPr>
              <a:t>OPENSIRI / AGENT INFRA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8756D-2D92-440A-B5EB-D5F7F1D3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03  THE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127CC-485D-47ED-A482-AA185BB8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FA163-CCA5-4830-B7C4-01FDB721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114"/>
                </a:solidFill>
              </a:defRPr>
            </a:pPr>
            <a:r>
              <a:rPr sz="3225" b="1">
                <a:solidFill>
                  <a:srgbClr val="101114"/>
                </a:solidFill>
              </a:rPr>
              <a:t>OpenSiri 把一张截图，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05E1E-A4F0-4D30-A0A1-27965B41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F6BFF"/>
                </a:solidFill>
              </a:defRPr>
            </a:pPr>
            <a:r>
              <a:rPr sz="3225" b="1">
                <a:solidFill>
                  <a:srgbClr val="2F6BFF"/>
                </a:solidFill>
              </a:rPr>
              <a:t>变成可验证的人机协作任务。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75DE7-376F-4090-BF0C-E9F79D63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56A"/>
                </a:solidFill>
              </a:defRPr>
            </a:pPr>
            <a:r>
              <a:rPr sz="1425" b="0">
                <a:solidFill>
                  <a:srgbClr val="62656A"/>
                </a:solidFill>
              </a:rPr>
              <a:t>不用说“嘿，Siri”。截个图，先让团队商量明白。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6202C-9728-4DCA-A2B3-33C274F7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994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DF51C-B464-40B4-9F5B-D319C9A6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C0B56-A45C-4D0B-A89F-8BD0456A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9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72FAE-8DF0-443C-B64B-82A4518E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814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截图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D35ED-65EF-4321-9F04-39D1A7A6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复用 Easydict</a:t>
            </a:r>
          </a:p>
          <a:p xmlns:a="http://schemas.openxmlformats.org/drawingml/2006/main">
            <a:pPr algn="ctr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全局快捷键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A9FB3-1803-4F5F-8D53-23D52446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06B94-E140-494C-8A52-9C94EE30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619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DC745-1A91-4380-9D78-21AE491E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7814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本地 OCR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32FA8-97A0-4C85-8306-1B37F80F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3338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识别气泡</a:t>
            </a:r>
          </a:p>
          <a:p xmlns:a="http://schemas.openxmlformats.org/drawingml/2006/main">
            <a:pPr algn="ctr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允许人工校对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9A4C3-7ED5-46F0-90EA-DFA1FBE6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0A062-0527-4AF1-B228-CC2CDC7E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19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942CC-254C-4C10-9358-16EFA134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814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团队协作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D20AD-6306-4064-87D2-D3AC9622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338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四个 Worker</a:t>
            </a:r>
          </a:p>
          <a:p xmlns:a="http://schemas.openxmlformats.org/drawingml/2006/main">
            <a:pPr algn="ctr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传递结构化上下文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FC727F-449E-4037-85F6-1B591C78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9FD344-E853-4D42-8C91-244C3A86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619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19AF68-F0E8-4260-B4DF-EBE5FAED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7814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独立验证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64A9B-DAB8-45A4-ADA8-C4D51E50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3338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事实 · 语气</a:t>
            </a:r>
          </a:p>
          <a:p xmlns:a="http://schemas.openxmlformats.org/drawingml/2006/main">
            <a:pPr algn="ctr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隐私 · 承诺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64093-B870-4AD8-879B-98F3DB71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C99A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BE9691-F4FA-4E8A-B3FC-17904718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19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EAAC5-A837-4EBB-AC42-2C8DCFFF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814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人工批准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30C6C-92A0-4F27-9217-E9CAC3D6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338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复制 / 插入</a:t>
            </a:r>
          </a:p>
          <a:p xmlns:a="http://schemas.openxmlformats.org/drawingml/2006/main">
            <a:pPr algn="ctr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永不自动发送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6948A9-55CD-442F-B776-717B8792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AF5"/>
          </a:solidFill>
          <a:ln xmlns:a="http://schemas.openxmlformats.org/drawingml/2006/main" w="9525">
            <a:solidFill>
              <a:srgbClr val="37C99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64CC99-2392-4871-87F6-503B8CE8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051"/>
                </a:solidFill>
              </a:defRPr>
            </a:pPr>
            <a:r>
              <a:rPr sz="900" b="1">
                <a:solidFill>
                  <a:srgbClr val="0A7051"/>
                </a:solidFill>
              </a:rPr>
              <a:t>RECOVERABLE BY DESIGN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C9EF04-7B5A-4439-8159-247C95B4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578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114"/>
                </a:solidFill>
              </a:defRPr>
            </a:pPr>
            <a:r>
              <a:rPr sz="1275" b="0">
                <a:solidFill>
                  <a:srgbClr val="101114"/>
                </a:solidFill>
              </a:rPr>
              <a:t>OCR 不确定就校对 · 后端断开可重试 · Reviewer 拒绝最多回写两次 · 用户始终拥有最终发送权</a:t>
            </a:r>
          </a:p>
        </p:txBody>
      </p:sp>
    </p:spTree>
    <p:extLst>
      <p:ext uri="{BB962C8B-B14F-4D97-AF65-F5344CB8AC3E}">
        <p14:creationId xmlns:p14="http://schemas.microsoft.com/office/powerpoint/2010/main" val="943007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FCD3C2-BC27-4372-A921-B1DAAA65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0F07C-01D2-4D40-A867-0B718F2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BF99E-37A7-4D9C-B97E-D93AFC0E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E417D-3585-4BFB-82DF-1F69133F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653D7-24D3-4047-83A5-C3525A6A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840BE-D6AF-4C7B-99BC-E1476F47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DD68E-8908-4E52-A219-A70CC2AD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2058F-221A-4EC4-A878-4C967C2E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5F2DA-8455-4490-9D4D-6E0FF315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7E81F-C19D-420E-BDC9-258D9B45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2E9A9-7A0F-4C77-95F0-52CB6DFA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B9C84-94D2-47F6-B793-23904C66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4429D-D802-429A-9402-EF28B061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42E6A-F931-4EE3-9C00-EBCCB259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1A7BE-8BDF-4ECF-84C4-DAB555F9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A75785-7FE3-4720-BC6F-56F91DDB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114"/>
                </a:solidFill>
              </a:defRPr>
            </a:pPr>
            <a:r>
              <a:rPr sz="825" b="1">
                <a:solidFill>
                  <a:srgbClr val="101114"/>
                </a:solidFill>
              </a:rPr>
              <a:t>OPENSIRI / AGENT INFRA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10C2A-0DDC-4B02-BF22-38AE947D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04  AGENTTEAMS ARCHITECTURE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69585-E483-4591-873C-1B981681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07DAD-64C2-43DA-B35D-A9E261D7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114"/>
                </a:solidFill>
              </a:defRPr>
            </a:pPr>
            <a:r>
              <a:rPr sz="3225" b="1">
                <a:solidFill>
                  <a:srgbClr val="101114"/>
                </a:solidFill>
              </a:rPr>
              <a:t>四个不同职能 Agent，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2B498-000C-4509-9318-EF25AE56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F6BFF"/>
                </a:solidFill>
              </a:defRPr>
            </a:pPr>
            <a:r>
              <a:rPr sz="3225" b="1">
                <a:solidFill>
                  <a:srgbClr val="2F6BFF"/>
                </a:solidFill>
              </a:rPr>
              <a:t>不是四次相同的提示词。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222A7B-917E-4CE2-9680-E0273CBA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EBCE4-4BB0-4D75-9E87-329C50A0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258EC9-91D2-4551-A62F-72FFDE90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0375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4A5FC-5F4D-41ED-A012-284FE5C3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00375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A8928A-E98F-4E02-8D8A-03D9DE9A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752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A5F7CA-E7FA-4F3B-8513-4AFEA14D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A1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CBC3CA-ED1D-4877-B26C-9D924467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90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对话分析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CBB8EA-574E-42BC-AD27-FDA6597B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56A"/>
                </a:solidFill>
              </a:defRPr>
            </a:pPr>
            <a:r>
              <a:rPr sz="1050" b="0">
                <a:solidFill>
                  <a:srgbClr val="62656A"/>
                </a:solidFill>
              </a:rPr>
              <a:t>意图 / 情绪 / 待回应事项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41584A-98EF-4886-BA1D-78B30693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8900"/>
            <a:ext cx="1752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5E12B9-A543-47F2-BA06-331FDF13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A2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DF7AFB-A841-4065-9C16-F048EBD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90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用户上下文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BE771F-83A3-4568-918B-3743DED0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766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56A"/>
                </a:solidFill>
              </a:defRPr>
            </a:pPr>
            <a:r>
              <a:rPr sz="1050" b="0">
                <a:solidFill>
                  <a:srgbClr val="62656A"/>
                </a:solidFill>
              </a:rPr>
              <a:t>关系 / 语气 / 禁止承诺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2BE20F-EB3B-4A1A-88F9-7F9CDA6A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28900"/>
            <a:ext cx="1752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1C7578-E424-42AF-8177-6533A164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A3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A0850D-63E0-4E4D-BF94-0D032768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90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回复策略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418744-D0CE-451A-9636-B745A270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766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56A"/>
                </a:solidFill>
              </a:defRPr>
            </a:pPr>
            <a:r>
              <a:rPr sz="1050" b="0">
                <a:solidFill>
                  <a:srgbClr val="62656A"/>
                </a:solidFill>
              </a:rPr>
              <a:t>简洁 / 友好 / 稳妥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FC446C-B5F7-46A8-93EF-5CD578D8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28900"/>
            <a:ext cx="1752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AF5"/>
          </a:solidFill>
          <a:ln xmlns:a="http://schemas.openxmlformats.org/drawingml/2006/main" w="9525">
            <a:solidFill>
              <a:srgbClr val="37C99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2F43D5-2FF2-438D-B0ED-B50EBE67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A4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FC8652-187D-4B7D-BDE3-FC2B3A1F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90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质量验证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3C2D32-1278-4B89-BBC9-D57D8E67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56A"/>
                </a:solidFill>
              </a:defRPr>
            </a:pPr>
            <a:r>
              <a:rPr sz="1050" b="0">
                <a:solidFill>
                  <a:srgbClr val="62656A"/>
                </a:solidFill>
              </a:rPr>
              <a:t>通过 / 注意 / 拒绝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FE5CDA-08C5-4DD3-97C3-CECFD26C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14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MATRIX ROOM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3C5407-BFF9-43B3-9BA6-ACAE00FC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387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任务、状态、证据与人工消息都在同一协作空间中可见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B5817E-8C28-41C9-A075-DB03AEA1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38400"/>
            <a:ext cx="2400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E26599-A243-4F53-89C0-B3076A59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860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C99A"/>
                </a:solidFill>
              </a:defRPr>
            </a:pPr>
            <a:r>
              <a:rPr sz="900" b="1">
                <a:solidFill>
                  <a:srgbClr val="37C99A"/>
                </a:solidFill>
              </a:rPr>
              <a:t>TEAM LEADER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E143EF-6C34-47D0-A3A4-D2258BF9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33725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负责交接，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不替代 Worker。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F8AAF9-AA6B-49B8-9923-CEC4A62C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43375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74D"/>
          </a:solidFill>
          <a:ln xmlns:a="http://schemas.openxmlformats.org/drawingml/2006/main" w="0">
            <a:solidFill>
              <a:srgbClr val="4547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763281-1BEC-4A5F-B7A3-46C72AFC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62450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DDDF"/>
                </a:solidFill>
              </a:defRPr>
            </a:pPr>
            <a:r>
              <a:rPr sz="1200" b="0">
                <a:solidFill>
                  <a:srgbClr val="D9DDDF"/>
                </a:solidFill>
              </a:rPr>
              <a:t>Reviewer 可以打回</a:t>
            </a:r>
          </a:p>
          <a:p xmlns:a="http://schemas.openxmlformats.org/drawingml/2006/main">
            <a:pPr algn="l">
              <a:defRPr sz="1200" b="0">
                <a:solidFill>
                  <a:srgbClr val="D9DDDF"/>
                </a:solidFill>
              </a:defRPr>
            </a:pPr>
            <a:r>
              <a:rPr sz="1200" b="0">
                <a:solidFill>
                  <a:srgbClr val="D9DDDF"/>
                </a:solidFill>
              </a:rPr>
              <a:t>Strategist 重写；</a:t>
            </a:r>
          </a:p>
          <a:p xmlns:a="http://schemas.openxmlformats.org/drawingml/2006/main">
            <a:pPr algn="l">
              <a:defRPr sz="1200" b="0">
                <a:solidFill>
                  <a:srgbClr val="D9DDDF"/>
                </a:solidFill>
              </a:defRPr>
            </a:pPr>
            <a:r>
              <a:rPr sz="1200" b="0">
                <a:solidFill>
                  <a:srgbClr val="D9DDDF"/>
                </a:solidFill>
              </a:rPr>
              <a:t>最多 2 次。</a:t>
            </a:r>
          </a:p>
        </p:txBody>
      </p:sp>
    </p:spTree>
    <p:extLst>
      <p:ext uri="{BB962C8B-B14F-4D97-AF65-F5344CB8AC3E}">
        <p14:creationId xmlns:p14="http://schemas.microsoft.com/office/powerpoint/2010/main" val="6644518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FC0F0A-CE58-4E7F-9A0E-28C0A3B2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114"/>
                </a:solidFill>
              </a:defRPr>
            </a:pPr>
            <a:r>
              <a:rPr sz="825" b="1">
                <a:solidFill>
                  <a:srgbClr val="101114"/>
                </a:solidFill>
              </a:rPr>
              <a:t>OPENSIRI / AGENT INFRA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B2FA9-69E6-4C75-AFDE-4712A1CA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05  THREE BUILT-IN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020F0-11A8-40BC-8171-41DC699C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08C08-8738-4D58-A503-E6722B7F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114"/>
                </a:solidFill>
              </a:defRPr>
            </a:pPr>
            <a:r>
              <a:rPr sz="3225" b="1">
                <a:solidFill>
                  <a:srgbClr val="101114"/>
                </a:solidFill>
              </a:rPr>
              <a:t>主 Skill 先做深，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1AEDF-AD52-48FD-927E-54025270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F6BFF"/>
                </a:solidFill>
              </a:defRPr>
            </a:pPr>
            <a:r>
              <a:rPr sz="3225" b="1">
                <a:solidFill>
                  <a:srgbClr val="2F6BFF"/>
                </a:solidFill>
              </a:rPr>
              <a:t>另外两项复用同一基础设施。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0BEEA-42EA-4E4F-884F-9D7CEB12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SKILL /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FDF93-E292-4F1D-9660-E00E9C45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微信截图</a:t>
            </a:r>
          </a:p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智能回复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579CB-B5FD-47ED-995C-FAAE3AA5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“这句话，到底该怎么回？”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6729B-3477-4D4D-82AB-937F5FE9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识别对话 · 结合用户</a:t>
            </a:r>
          </a:p>
          <a:p xmlns:a="http://schemas.openxmlformats.org/drawingml/2006/main">
            <a:pPr algn="l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生成三条经验证候选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41456-0303-44D5-997B-B5BD9229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C6FE6-A8E7-411C-AD95-32B04771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56A"/>
                </a:solidFill>
              </a:defRPr>
            </a:pPr>
            <a:r>
              <a:rPr sz="900" b="0">
                <a:solidFill>
                  <a:srgbClr val="62656A"/>
                </a:solidFill>
              </a:rPr>
              <a:t>完整端到端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5D5F5-1E4C-4609-A7FC-F0364295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81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C5EA9-BA5A-43D9-B1F4-5BF10784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114"/>
                </a:solidFill>
              </a:defRPr>
            </a:pPr>
            <a:r>
              <a:rPr sz="900" b="1">
                <a:solidFill>
                  <a:srgbClr val="101114"/>
                </a:solidFill>
              </a:rPr>
              <a:t>SKILL / 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2BE9C-F349-489E-9158-DDC0D2F7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146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划词</a:t>
            </a:r>
          </a:p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改写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BB2ED-7DEF-4773-B138-5513E615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71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“换个说法，但还是像我。”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FD7F1-D084-4004-8369-9CB4812F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577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扩写 · 缩写 · 润色</a:t>
            </a:r>
          </a:p>
          <a:p xmlns:a="http://schemas.openxmlformats.org/drawingml/2006/main">
            <a:pPr algn="l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语气转换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9B3DC-F014-4770-A990-BA5E056E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7150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C917F-E093-400C-AFF4-C20EC5BA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8864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56A"/>
                </a:solidFill>
              </a:defRPr>
            </a:pPr>
            <a:r>
              <a:rPr sz="900" b="0">
                <a:solidFill>
                  <a:srgbClr val="62656A"/>
                </a:solidFill>
              </a:rPr>
              <a:t>合同 + 可重放链路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891685-5834-4244-8546-96D3E469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81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E5861-0CC5-4BFE-A9BC-AD78AAAC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C99A"/>
                </a:solidFill>
              </a:defRPr>
            </a:pPr>
            <a:r>
              <a:rPr sz="900" b="1">
                <a:solidFill>
                  <a:srgbClr val="37C99A"/>
                </a:solidFill>
              </a:rPr>
              <a:t>SKILL / 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1B1C9-68D4-47E5-8D28-E739223C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截图行动</a:t>
            </a:r>
          </a:p>
          <a:p xmlns:a="http://schemas.openxmlformats.org/drawingml/2006/main">
            <a:pPr algn="l"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3C9B83-9E1C-4A6B-8FAF-87D4329F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7C99A"/>
                </a:solidFill>
              </a:defRPr>
            </a:pPr>
            <a:r>
              <a:rPr sz="1500" b="1">
                <a:solidFill>
                  <a:srgbClr val="37C99A"/>
                </a:solidFill>
              </a:rPr>
              <a:t>“我看懂了，然后呢？”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A2E7B3-EEFF-4719-877D-7E951FF3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577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理解截图 · 标记风险</a:t>
            </a:r>
          </a:p>
          <a:p xmlns:a="http://schemas.openxmlformats.org/drawingml/2006/main">
            <a:pPr algn="l"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给出下一步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69B5A1-6091-45D1-B63E-E2E4E3A2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7150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99A"/>
          </a:solidFill>
          <a:ln xmlns:a="http://schemas.openxmlformats.org/drawingml/2006/main" w="0">
            <a:solidFill>
              <a:srgbClr val="37C9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C15A5-92A5-4900-98D3-C0F24A84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8864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56A"/>
                </a:solidFill>
              </a:defRPr>
            </a:pPr>
            <a:r>
              <a:rPr sz="900" b="0">
                <a:solidFill>
                  <a:srgbClr val="62656A"/>
                </a:solidFill>
              </a:rPr>
              <a:t>合同 + 可重放链路</a:t>
            </a:r>
          </a:p>
        </p:txBody>
      </p:sp>
    </p:spTree>
    <p:extLst>
      <p:ext uri="{BB962C8B-B14F-4D97-AF65-F5344CB8AC3E}">
        <p14:creationId xmlns:p14="http://schemas.microsoft.com/office/powerpoint/2010/main" val="1580961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1F14BB-2797-44F5-8AFC-D5E88D87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A97C5-C411-4F47-90B3-76F64350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28B4D-5A18-4F61-ABD2-5DAA7D74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99708-D89C-4FDB-BE7F-8DD1D8F1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B33AE-2964-430E-BDD4-62B85FD7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25540-1AE5-4222-B42B-E40CAA10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DEB13-3A70-4FD1-85B7-0F941521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D5DA4-6EAA-45C7-A1E8-367B2675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2872E-3A3A-42C1-AE07-462EFF09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1B312-949F-467F-95A9-57DBF717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2C6C5-A022-4BED-90DF-91533708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0E9A4-1008-4C9B-8FA9-4FFE89CA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14902-F82E-40F4-B343-CEDAF9B6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10CC1-6973-4B2E-8778-67D2F2EE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40CF1-D404-45FD-90B6-EC3C1A6C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61746-B846-4F47-9DB0-765594E5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114"/>
                </a:solidFill>
              </a:defRPr>
            </a:pPr>
            <a:r>
              <a:rPr sz="825" b="1">
                <a:solidFill>
                  <a:srgbClr val="101114"/>
                </a:solidFill>
              </a:rPr>
              <a:t>OPENSIRI / AGENT INFRA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3D058-B2FA-494D-B6F5-C2EC9794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06  FEASIBILITY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39600-A27E-4B4F-9827-1F13FD65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21984-FD46-4287-859E-8EAB3574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114"/>
                </a:solidFill>
              </a:defRPr>
            </a:pPr>
            <a:r>
              <a:rPr sz="3225" b="1">
                <a:solidFill>
                  <a:srgbClr val="101114"/>
                </a:solidFill>
              </a:rPr>
              <a:t>Easydict 已解决“怎么进入系统”，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99CBB-32D3-4A46-9FAD-82363672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F6BFF"/>
                </a:solidFill>
              </a:defRPr>
            </a:pPr>
            <a:r>
              <a:rPr sz="3225" b="1">
                <a:solidFill>
                  <a:srgbClr val="2F6BFF"/>
                </a:solidFill>
              </a:rPr>
              <a:t>AgentTeams 解决“进入后谁来协作”。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00E7D-D983-4895-9013-4D181CDE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47625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9F69B3-38D3-4B1B-BDB2-BB978C62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EXPERIENCE PLANE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49555-1FAF-4623-ADB2-6CD6E5C9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114"/>
                </a:solidFill>
              </a:defRPr>
            </a:pPr>
            <a:r>
              <a:rPr sz="2250" b="1">
                <a:solidFill>
                  <a:srgbClr val="101114"/>
                </a:solidFill>
              </a:rPr>
              <a:t>Easydict / OpenSiri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B38A37-C53F-49CB-ABBB-758AEF61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✓ 全局快捷键</a:t>
            </a:r>
          </a:p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✓ 区域截图与本地 OCR</a:t>
            </a:r>
          </a:p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✓ 划词、当前输入框与剪贴板</a:t>
            </a:r>
          </a:p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✓ 浮动窗口与安全文本回写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49233F-DCE7-4EA3-A9B3-61418108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最昂贵的 macOS 平台能力已经存在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A6B9A1-5218-4080-AC79-81A38B08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2900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2F6BFF"/>
                </a:solidFill>
              </a:defRPr>
            </a:pPr>
            <a:r>
              <a:rPr sz="5100" b="1">
                <a:solidFill>
                  <a:srgbClr val="2F6BFF"/>
                </a:solidFill>
              </a:rPr>
              <a:t>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9C3AD-C9E7-48E1-980A-03C5D8B2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47625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52ADF1-9045-4D8D-BCCC-ECAAD2A3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C99A"/>
                </a:solidFill>
              </a:defRPr>
            </a:pPr>
            <a:r>
              <a:rPr sz="900" b="1">
                <a:solidFill>
                  <a:srgbClr val="37C99A"/>
                </a:solidFill>
              </a:rPr>
              <a:t>COLLABORATION PLANE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3078EF-3E5D-48AC-91C8-E343F50F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527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AgentTeams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71268E-8043-4E03-9D7E-3731D492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✓ Manager / Team Leader / Worker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✓ Matrix 房间中的人机协作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✓ Worker.spec.skills 分发能力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✓ 状态、产物与凭证隔离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E70CE7-66A7-4A53-AC29-657DDBC8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95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CC1"/>
                </a:solidFill>
              </a:defRPr>
            </a:pPr>
            <a:r>
              <a:rPr sz="1200" b="0">
                <a:solidFill>
                  <a:srgbClr val="B8BCC1"/>
                </a:solidFill>
              </a:rPr>
              <a:t>不在 App 进程里重造一套多 Agent 平台</a:t>
            </a:r>
          </a:p>
        </p:txBody>
      </p:sp>
    </p:spTree>
    <p:extLst>
      <p:ext uri="{BB962C8B-B14F-4D97-AF65-F5344CB8AC3E}">
        <p14:creationId xmlns:p14="http://schemas.microsoft.com/office/powerpoint/2010/main" val="346495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7F2B54-62E7-431C-85B3-D0145430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114"/>
                </a:solidFill>
              </a:defRPr>
            </a:pPr>
            <a:r>
              <a:rPr sz="825" b="1">
                <a:solidFill>
                  <a:srgbClr val="101114"/>
                </a:solidFill>
              </a:rPr>
              <a:t>OPENSIRI / AGENT INFRA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AB8A0-3AAE-4531-ABDC-CD43BEA4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07  OBSERVABLE + RECOVERABLE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47402-A508-4862-8E09-11855462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B25B2-FE24-4191-BCC0-605E25D2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114"/>
                </a:solidFill>
              </a:defRPr>
            </a:pPr>
            <a:r>
              <a:rPr sz="3225" b="1">
                <a:solidFill>
                  <a:srgbClr val="101114"/>
                </a:solidFill>
              </a:rPr>
              <a:t>从截图到回复，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10FC5-360E-4D86-A050-B474649B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F6BFF"/>
                </a:solidFill>
              </a:defRPr>
            </a:pPr>
            <a:r>
              <a:rPr sz="3225" b="1">
                <a:solidFill>
                  <a:srgbClr val="2F6BFF"/>
                </a:solidFill>
              </a:rPr>
              <a:t>每一步都能被看见和纠正。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56713-005B-4AE6-B6CE-D6A7650A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0534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03755-422E-4082-B4DE-303096AB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527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15CF9-B6EC-4A9B-84AD-1DEB0F08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截图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8F4F1-C14B-4F3E-9AA3-177BB373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1527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E1260-6019-4A77-9C18-2C283085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657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校对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B8A01-DA64-4DC9-B0E5-447748B4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527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3A84E-C88D-4F8B-9309-5CC2C57E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57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提交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7E6BC-16E1-4FB2-B639-071F551A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1527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FEC8A-2D7D-4FE2-9CEE-F11BA467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57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5C7EC-D2AD-406C-9401-2905DEF3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6AF1F-35AC-464A-830F-9B81DF1F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57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生成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F28F6-AB82-4FF3-ACBF-144AD25D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1527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4A231-2681-4A0C-AD1B-EBAC5AEC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657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4B084-6538-4F17-858B-13880677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527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C99A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0B3E7A-A8AE-40BC-9B51-C27AA165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57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批准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45672-769F-422A-9D22-0185C0D0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1527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E199CA-D5AC-40DB-89C2-87516760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657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插入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84083E-7749-4961-8375-2D571AE4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NORMAL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8D3E8-81F2-4407-8398-A8CBF813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3105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94871B-625D-4B05-9917-F156B7EB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4"/>
                </a:solidFill>
              </a:defRPr>
            </a:pPr>
            <a:r>
              <a:rPr sz="1425" b="1">
                <a:solidFill>
                  <a:srgbClr val="101114"/>
                </a:solidFill>
              </a:rPr>
              <a:t>OCR 不确定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DAC35E-17F2-44E1-802A-BC8F9242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56A"/>
                </a:solidFill>
              </a:defRPr>
            </a:pPr>
            <a:r>
              <a:rPr sz="1125" b="0">
                <a:solidFill>
                  <a:srgbClr val="62656A"/>
                </a:solidFill>
              </a:rPr>
              <a:t>回到校对；不把错误对话交给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83CB92-CF6C-4E62-896E-57763FA5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57700"/>
            <a:ext cx="3105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9C0FC3-6037-485D-B1C3-DD210F21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48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4"/>
                </a:solidFill>
              </a:defRPr>
            </a:pPr>
            <a:r>
              <a:rPr sz="1425" b="1">
                <a:solidFill>
                  <a:srgbClr val="101114"/>
                </a:solidFill>
              </a:rPr>
              <a:t>Reviewer 拒绝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068212-889A-4D7F-A0F8-653EEF70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048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56A"/>
                </a:solidFill>
              </a:defRPr>
            </a:pPr>
            <a:r>
              <a:rPr sz="1125" b="0">
                <a:solidFill>
                  <a:srgbClr val="62656A"/>
                </a:solidFill>
              </a:rPr>
              <a:t>带 reason code 回写，最多重试两次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F97F8B-BE1B-456D-8A2A-11C167A2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AF5"/>
          </a:solidFill>
          <a:ln xmlns:a="http://schemas.openxmlformats.org/drawingml/2006/main" w="9525">
            <a:solidFill>
              <a:srgbClr val="37C99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9FDB1C-DA9C-491F-8DBC-B2E1748F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48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4"/>
                </a:solidFill>
              </a:defRPr>
            </a:pPr>
            <a:r>
              <a:rPr sz="1425" b="1">
                <a:solidFill>
                  <a:srgbClr val="101114"/>
                </a:solidFill>
              </a:rPr>
              <a:t>后端断开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F6E34F-F30D-404E-8BC6-ED23F0EA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48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56A"/>
                </a:solidFill>
              </a:defRPr>
            </a:pPr>
            <a:r>
              <a:rPr sz="1125" b="0">
                <a:solidFill>
                  <a:srgbClr val="62656A"/>
                </a:solidFill>
              </a:rPr>
              <a:t>保留同一 task ID，恢复后幂等重试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DB0DF9-73A1-4E8D-8912-5F146695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FF"/>
                </a:solidFill>
              </a:defRPr>
            </a:pPr>
            <a:r>
              <a:rPr sz="825" b="1">
                <a:solidFill>
                  <a:srgbClr val="2F6BFF"/>
                </a:solidFill>
              </a:rPr>
              <a:t>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0C00C3-B12C-47CB-8C77-CAB32621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817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114"/>
                </a:solidFill>
              </a:defRPr>
            </a:pPr>
            <a:r>
              <a:rPr sz="1200" b="0">
                <a:solidFill>
                  <a:srgbClr val="101114"/>
                </a:solidFill>
              </a:rPr>
              <a:t>Agent 状态 · 处理耗时 · 验证结论 · reason code · 人工修改摘要</a:t>
            </a:r>
          </a:p>
        </p:txBody>
      </p:sp>
    </p:spTree>
    <p:extLst>
      <p:ext uri="{BB962C8B-B14F-4D97-AF65-F5344CB8AC3E}">
        <p14:creationId xmlns:p14="http://schemas.microsoft.com/office/powerpoint/2010/main" val="3042576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1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3583AF-4631-4CC3-AD79-7C115745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EF679-FBC4-4479-B72C-2AEF73E1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3DAA2-CA7C-4657-89C3-3C977016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F4266-7351-4857-8B77-9FAE1FB1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6AC78-BE60-4493-B426-9F5E827C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58670-E474-46E9-873C-9E990B3A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7BC60-19F0-4C24-A575-759B111A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04F4A-0FE0-448E-8DCB-9B8907B5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B8457-26BA-4501-95DC-5C3D917F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0B832-CA00-4C76-A32E-78AE676C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DF656-638C-4163-B2DA-827953C2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36FAC-DD67-4790-942E-59F217EE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9D34B-4905-4D5E-9A05-BE533A7C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2947E-286E-4036-B763-3A71D004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592A6-4E84-4BFE-8958-3C838D05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4E98E-BE1E-4A6E-8A6B-0AC7BB83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OPENSIRI / PRIVACY BY DEFAULT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896E7-33B3-4D63-8573-04FBBC1A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9CA4"/>
                </a:solidFill>
              </a:defRPr>
            </a:pPr>
            <a:r>
              <a:rPr sz="825" b="0">
                <a:solidFill>
                  <a:srgbClr val="989CA4"/>
                </a:solidFill>
              </a:rPr>
              <a:t>08  HUMAN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70D73-8618-4271-AEDA-8251E20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63B"/>
          </a:solidFill>
          <a:ln xmlns:a="http://schemas.openxmlformats.org/drawingml/2006/main" w="0">
            <a:solidFill>
              <a:srgbClr val="3436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AD4D06-0D35-4641-B2D2-711D659D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我需要上下文，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C0410-A474-42AD-B852-749746CE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7C99A"/>
                </a:solidFill>
              </a:defRPr>
            </a:pPr>
            <a:r>
              <a:rPr sz="3225" b="1">
                <a:solidFill>
                  <a:srgbClr val="37C99A"/>
                </a:solidFill>
              </a:rPr>
              <a:t>不需要你的人生。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8EDC3-3809-4142-95EE-050D0B14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095750" cy="3143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154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309CF-5C06-4FD1-9FCC-7036EAF7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0350"/>
            <a:ext cx="3143250" cy="234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861F31-2D07-4136-B4C5-DB60DE02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286125"/>
            <a:ext cx="18669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b4b2283144589"/>
          <a:stretch xmlns:a="http://schemas.openxmlformats.org/drawingml/2006/main"/>
        </p:blipFill>
        <p:spPr>
          <a:xfrm xmlns:a="http://schemas.openxmlformats.org/drawingml/2006/main">
            <a:off x="2247900" y="3409950"/>
            <a:ext cx="1009650" cy="10096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C53979-C062-4C4E-8087-7C84467F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72150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A8E95"/>
                </a:solidFill>
              </a:defRPr>
            </a:pPr>
            <a:r>
              <a:rPr sz="750" b="0">
                <a:solidFill>
                  <a:srgbClr val="8A8E95"/>
                </a:solidFill>
              </a:rPr>
              <a:t>RAW SCREENSHOT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D01A9C-2677-43C8-8BD8-CA7273BA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955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C99A"/>
                </a:solidFill>
              </a:defRPr>
            </a:pPr>
            <a:r>
              <a:rPr sz="1050" b="1">
                <a:solidFill>
                  <a:srgbClr val="37C99A"/>
                </a:solidFill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FA72D5-BE20-472D-9F40-1A9391E4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本地 OCR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CFC017-C2B7-4B3D-A758-3507A3BB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BDC3"/>
                </a:solidFill>
              </a:defRPr>
            </a:pPr>
            <a:r>
              <a:rPr sz="1200" b="0">
                <a:solidFill>
                  <a:srgbClr val="B9BDC3"/>
                </a:solidFill>
              </a:rPr>
              <a:t>原始截图默认不上传；先在 Mac 上完成结构化与人工校对。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455323-C846-4C71-BF39-A1170FF4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48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73C"/>
          </a:solidFill>
          <a:ln xmlns:a="http://schemas.openxmlformats.org/drawingml/2006/main" w="0">
            <a:solidFill>
              <a:srgbClr val="3537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DF37D7-3296-4B92-B994-CEAEE535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00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C99A"/>
                </a:solidFill>
              </a:defRPr>
            </a:pPr>
            <a:r>
              <a:rPr sz="1050" b="1">
                <a:solidFill>
                  <a:srgbClr val="37C99A"/>
                </a:solidFill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41208C-7D3A-4D0A-9CA9-62900C11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最小上下文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FCE53E-4183-4D3A-B56D-9C4727B3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BDC3"/>
                </a:solidFill>
              </a:defRPr>
            </a:pPr>
            <a:r>
              <a:rPr sz="1200" b="0">
                <a:solidFill>
                  <a:srgbClr val="B9BDC3"/>
                </a:solidFill>
              </a:rPr>
              <a:t>不同 Agent 只拿到完成当前任务所需的字段。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F164CC-6D58-42AD-825D-B5ECADF9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529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73C"/>
          </a:solidFill>
          <a:ln xmlns:a="http://schemas.openxmlformats.org/drawingml/2006/main" w="0">
            <a:solidFill>
              <a:srgbClr val="35373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74B6FE-9C33-41A1-BEC2-661AEDCC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053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C99A"/>
                </a:solidFill>
              </a:defRPr>
            </a:pPr>
            <a:r>
              <a:rPr sz="1050" b="1">
                <a:solidFill>
                  <a:srgbClr val="37C99A"/>
                </a:solidFill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E9F096-6523-4DCE-B9F1-849134C1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人工审批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D490C1-02AC-4DEE-8CD2-13854B4A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BDC3"/>
                </a:solidFill>
              </a:defRPr>
            </a:pPr>
            <a:r>
              <a:rPr sz="1200" b="0">
                <a:solidFill>
                  <a:srgbClr val="B9BDC3"/>
                </a:solidFill>
              </a:rPr>
              <a:t>仅复制或插入；首版永不自动发送微信消息。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CC5462-6C54-4328-AC9D-7F925495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86450"/>
            <a:ext cx="565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D27"/>
          </a:solidFill>
          <a:ln xmlns:a="http://schemas.openxmlformats.org/drawingml/2006/main" w="9525">
            <a:solidFill>
              <a:srgbClr val="37C99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722883-20CD-4813-978F-4A73230D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91225"/>
            <a:ext cx="527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7C99A"/>
                </a:solidFill>
              </a:defRPr>
            </a:pPr>
            <a:r>
              <a:rPr sz="1275" b="1">
                <a:solidFill>
                  <a:srgbClr val="37C99A"/>
                </a:solidFill>
              </a:rPr>
              <a:t>我不会替你发送，所以也不会替你社死。</a:t>
            </a:r>
          </a:p>
        </p:txBody>
      </p:sp>
    </p:spTree>
    <p:extLst>
      <p:ext uri="{BB962C8B-B14F-4D97-AF65-F5344CB8AC3E}">
        <p14:creationId xmlns:p14="http://schemas.microsoft.com/office/powerpoint/2010/main" val="21312621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C4B246-DA2E-417F-9709-686FFAB3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D9FD9-E347-461A-A42D-0D207CE3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D69AE-6546-4575-B793-9257BB19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98878-8D3C-4EBA-8A08-DCAF1FB4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5A55E-CF07-4303-8D34-5EBB4D00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7B58B-CB5A-4BD4-8BF6-166EE8E5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A26B5-54FC-474E-97B3-2A13C292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C3C47-F5E9-49F4-BEB4-7DF0F186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F9758-E143-4174-8FF7-8AF7D6B2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CA6BC-F390-46B8-B7B7-0FA34E75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10F33-FB82-4ADD-83E8-DB81D1B4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02D49-5592-4AF0-8404-98892EE2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5AB8B-EDBE-4981-8293-EF42770A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6665B-826D-431D-95B8-9B8B1044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872A8-9E96-4E28-9F91-2C76F4AE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F9FB8-3FD2-409E-995B-0C4DF969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114"/>
                </a:solidFill>
              </a:defRPr>
            </a:pPr>
            <a:r>
              <a:rPr sz="825" b="1">
                <a:solidFill>
                  <a:srgbClr val="101114"/>
                </a:solidFill>
              </a:rPr>
              <a:t>OPENSIRI / AGENT INFRA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16175-C51C-466A-9CF3-0050078E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09  IMPLEMENTATION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7F9CA0-1E8A-4A69-AC39-FDC6986A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0C2C3-5D1B-48CC-9FAE-567DE2C9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114"/>
                </a:solidFill>
              </a:defRPr>
            </a:pPr>
            <a:r>
              <a:rPr sz="3225" b="1">
                <a:solidFill>
                  <a:srgbClr val="101114"/>
                </a:solidFill>
              </a:rPr>
              <a:t>复赛前只交付一条完整主链路，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40D0E-5FE5-4C07-A60C-6FDEC2F9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F6BFF"/>
                </a:solidFill>
              </a:defRPr>
            </a:pPr>
            <a:r>
              <a:rPr sz="3225" b="1">
                <a:solidFill>
                  <a:srgbClr val="2F6BFF"/>
                </a:solidFill>
              </a:rPr>
              <a:t>两周把证据做实。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9C713-6CA9-41E2-975E-2F349567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56A"/>
                </a:solidFill>
              </a:defRPr>
            </a:pPr>
            <a:r>
              <a:rPr sz="1425" b="0">
                <a:solidFill>
                  <a:srgbClr val="62656A"/>
                </a:solidFill>
              </a:rPr>
              <a:t>先稳定合同，再做解析、Matrix、窗口、AgentTeams 包；不同时扩张三套 UI。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AE20A8-3D2C-43BB-BCD0-B58547F2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420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AF34ED-C619-4544-8F51-F14EDDF8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1526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4BB560-9F4D-4DEF-9238-1B2D17E3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D1–2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CEE97F-92BC-4214-944D-8EEA93B5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合同 + OCR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40C8F8-E655-46ED-AEB6-37FF1B77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Schema</a:t>
            </a:r>
          </a:p>
          <a:p xmlns:a="http://schemas.openxmlformats.org/drawingml/2006/main">
            <a:pPr algn="l"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微信气泡解析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00F29B-6D10-41CC-9DF9-AC922349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D6903C-35C3-4318-B391-DD93325C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57500"/>
            <a:ext cx="25527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11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7751A5-254A-4BF7-9D5C-26373369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114"/>
                </a:solidFill>
              </a:defRPr>
            </a:pPr>
            <a:r>
              <a:rPr sz="900" b="1">
                <a:solidFill>
                  <a:srgbClr val="101114"/>
                </a:solidFill>
              </a:rPr>
              <a:t>D3–5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8F824B-D49B-49D1-89B9-8AF7B06D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099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Matrix 闭环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3EA310-A960-4D14-98E9-98B93EA4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57625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任务事件</a:t>
            </a:r>
          </a:p>
          <a:p xmlns:a="http://schemas.openxmlformats.org/drawingml/2006/main">
            <a:pPr algn="l"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状态与恢复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D951D8-4C18-4EDF-8371-7DC5203D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8C8A15-1C02-41C7-917C-957822B2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2476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E9C3D2-7D6E-43B6-896E-9E2B6AE0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527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D6–8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7BDC99-56B7-4FE0-9574-41093E87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337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OpenSiri 窗口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0C833B-65B8-42EB-AB1E-055947FE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81375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校对 · 进度</a:t>
            </a:r>
          </a:p>
          <a:p xmlns:a="http://schemas.openxmlformats.org/drawingml/2006/main">
            <a:pPr algn="l"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三候选 · 审批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A1F6C6-E221-4F7E-854F-9B746F82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8FC621-8816-44F7-AE7A-0A0440A2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111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B29703-BF24-4F6D-A900-90432EEF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114"/>
                </a:solidFill>
              </a:defRPr>
            </a:pPr>
            <a:r>
              <a:rPr sz="900" b="1">
                <a:solidFill>
                  <a:srgbClr val="101114"/>
                </a:solidFill>
              </a:rPr>
              <a:t>D9–11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79348F-36D0-481F-9C74-09112CEC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099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AgentTeams 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4ADE1D-C83B-4D01-9E57-C4A7FBFE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四 Worker</a:t>
            </a:r>
          </a:p>
          <a:p xmlns:a="http://schemas.openxmlformats.org/drawingml/2006/main">
            <a:pPr algn="l"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三个 Product Skill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595101-7220-487C-BE3F-3D0D8F8D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CBB72F-7847-479D-8068-3A5441AA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381250"/>
            <a:ext cx="1200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C99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0B0078-0ADE-40E4-8925-E0326A15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5527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C99A"/>
                </a:solidFill>
              </a:defRPr>
            </a:pPr>
            <a:r>
              <a:rPr sz="900" b="1">
                <a:solidFill>
                  <a:srgbClr val="37C99A"/>
                </a:solidFill>
              </a:rPr>
              <a:t>D12–14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339E2E-06EE-41BD-9549-784C1CA7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9337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证据 + Demo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1706F3-BBF1-4368-BA79-9CC30A2A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381375"/>
            <a:ext cx="89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56A"/>
                </a:solidFill>
              </a:defRPr>
            </a:pPr>
            <a:r>
              <a:rPr sz="1050" b="0">
                <a:solidFill>
                  <a:srgbClr val="62656A"/>
                </a:solidFill>
              </a:rPr>
              <a:t>30 条脱敏任务</a:t>
            </a:r>
          </a:p>
          <a:p xmlns:a="http://schemas.openxmlformats.org/drawingml/2006/main">
            <a:pPr algn="l">
              <a:defRPr sz="1050" b="0">
                <a:solidFill>
                  <a:srgbClr val="62656A"/>
                </a:solidFill>
              </a:defRPr>
            </a:pPr>
            <a:r>
              <a:rPr sz="1050" b="0">
                <a:solidFill>
                  <a:srgbClr val="62656A"/>
                </a:solidFill>
              </a:rPr>
              <a:t>P50 / P95 / 成功率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46AE8E-139C-4629-9051-DD1B3C77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C99A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149866-E51E-45F5-9A14-FCB6ADD7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FF"/>
                </a:solidFill>
              </a:defRPr>
            </a:pPr>
            <a:r>
              <a:rPr sz="825" b="1">
                <a:solidFill>
                  <a:srgbClr val="2F6BFF"/>
                </a:solidFill>
              </a:rPr>
              <a:t>SCOPE GATE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BB7BEC-2A10-446B-8A55-C74245C7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7721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114"/>
                </a:solidFill>
              </a:defRPr>
            </a:pPr>
            <a:r>
              <a:rPr sz="1275" b="1">
                <a:solidFill>
                  <a:srgbClr val="101114"/>
                </a:solidFill>
              </a:rPr>
              <a:t>如延期：先砍另外两个 Skill 的专用 UI，再砍高级记忆；不砍四 Agent、验证、审批与证据。</a:t>
            </a:r>
          </a:p>
        </p:txBody>
      </p:sp>
    </p:spTree>
    <p:extLst>
      <p:ext uri="{BB962C8B-B14F-4D97-AF65-F5344CB8AC3E}">
        <p14:creationId xmlns:p14="http://schemas.microsoft.com/office/powerpoint/2010/main" val="3956881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7EB2B-A623-4CC4-AFE8-93D94EEA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B8B8A-E78E-4900-B3F5-934BAB82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66B1A-C63D-440E-8BD0-5B57B206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50D17-02C5-463F-A306-E1DEAF34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4F74F-09CA-469A-8583-92BF197B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68685-2951-477D-91B3-95694B5B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88A6B-5881-4A78-81A7-74F9B26D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2B5E7-B207-405C-80CC-A485D483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C3FE3-9965-4A65-8CF9-16AC1CF3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2B02D-5F2F-4E8B-B14C-F2CB0F89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0DD0F-F4FC-4528-99D8-9990DACD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93032-A051-4F49-866E-7B996C57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B83C6-93A4-4B7F-911E-C62273CF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8D874-D3CC-415E-9446-27E990EF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041F8-5E51-485C-ADDA-4C406456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F0EF0-B993-4D0F-A9E3-51F8DE9B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114"/>
                </a:solidFill>
              </a:defRPr>
            </a:pPr>
            <a:r>
              <a:rPr sz="825" b="1">
                <a:solidFill>
                  <a:srgbClr val="101114"/>
                </a:solidFill>
              </a:rPr>
              <a:t>OPENSIRI / AGENT INFRA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A9FF4-54CC-4321-AFE3-5280FD6D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10  THE PROMISE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183D8-BD19-4A53-93F6-07322FFF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F219F-CBDB-481D-AC95-F30E7A19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01114"/>
                </a:solidFill>
              </a:defRPr>
            </a:pPr>
            <a:r>
              <a:rPr sz="3900" b="1">
                <a:solidFill>
                  <a:srgbClr val="101114"/>
                </a:solidFill>
              </a:rPr>
              <a:t>这不是一个会替你说话的机器人。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22328-2202-478B-A2A1-BBEBCFBF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1078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F6BFF"/>
                </a:solidFill>
              </a:defRPr>
            </a:pPr>
            <a:r>
              <a:rPr sz="3300" b="1">
                <a:solidFill>
                  <a:srgbClr val="2F6BFF"/>
                </a:solidFill>
              </a:rPr>
              <a:t>是一支帮你想清楚、把风险说明白，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79641-DADC-4F8E-A428-B44A2887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1078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F6BFF"/>
                </a:solidFill>
              </a:defRPr>
            </a:pPr>
            <a:r>
              <a:rPr sz="3300" b="1">
                <a:solidFill>
                  <a:srgbClr val="2F6BFF"/>
                </a:solidFill>
              </a:rPr>
              <a:t>最后仍把决定交还给你的 Agent 团队。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DA8D9-1F16-4287-93FE-1C47170D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81425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62502-206E-46A4-B27F-53CD3F59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576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114"/>
                </a:solidFill>
              </a:defRPr>
            </a:pPr>
            <a:r>
              <a:rPr sz="1650" b="1">
                <a:solidFill>
                  <a:srgbClr val="101114"/>
                </a:solidFill>
              </a:rPr>
              <a:t>截一张图   →   让团队商量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BB505-7BF4-4EC3-AA60-34ADC4C4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78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2656A"/>
                </a:solidFill>
              </a:defRPr>
            </a:pPr>
            <a:r>
              <a:rPr sz="975" b="1">
                <a:solidFill>
                  <a:srgbClr val="62656A"/>
                </a:solidFill>
              </a:rPr>
              <a:t>OPEN SOURCE · MACOS · AGENTTEAMS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37F26F-AB2E-427A-8F34-28EDC4F9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1078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OpenSiri</a:t>
            </a:r>
          </a:p>
        </p:txBody>
      </p:sp>
    </p:spTree>
    <p:extLst>
      <p:ext uri="{BB962C8B-B14F-4D97-AF65-F5344CB8AC3E}">
        <p14:creationId xmlns:p14="http://schemas.microsoft.com/office/powerpoint/2010/main" val="533777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2026-08-16T07:52:42.9290000Z</dcterms:created>
  <dcterms:modified xsi:type="dcterms:W3CDTF">2026-08-16T07:52:42.9290000Z</dcterms:modified>
</coreProperties>
</file>